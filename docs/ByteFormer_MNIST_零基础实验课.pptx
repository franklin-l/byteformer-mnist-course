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zhuanlan.zhihu.com/p/18209757723" TargetMode="External"/><Relationship Id="rId4" Type="http://schemas.openxmlformats.org/officeDocument/2006/relationships/hyperlink" Target="https://blog.csdn.net/yyyyyybw/article/details/148336854" TargetMode="External"/><Relationship Id="rId5" Type="http://schemas.openxmlformats.org/officeDocument/2006/relationships/hyperlink" Target="https://www.kaggle.com/docs/notebooks" TargetMode="External"/><Relationship Id="rId6" Type="http://schemas.openxmlformats.org/officeDocument/2006/relationships/hyperlink" Target="https://www.autodl.com/docs/quick_start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autodl.com/docs/quick_start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doi.org/10.1016/j.patcog.2026.114151" TargetMode="External"/><Relationship Id="rId4" Type="http://schemas.openxmlformats.org/officeDocument/2006/relationships/hyperlink" Target="https://arxiv.org/abs/2608.15695" TargetMode="External"/><Relationship Id="rId5" Type="http://schemas.openxmlformats.org/officeDocument/2006/relationships/hyperlink" Target="https://arxiv.org/abs/2309.13890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Franklin-L/byteformer-mnist-course" TargetMode="External"/><Relationship Id="rId4" Type="http://schemas.openxmlformats.org/officeDocument/2006/relationships/hyperlink" Target="https://arxiv.org/abs/2306.00238" TargetMode="External"/><Relationship Id="rId5" Type="http://schemas.openxmlformats.org/officeDocument/2006/relationships/hyperlink" Target="https://arxiv.org/abs/2305.07185" TargetMode="External"/><Relationship Id="rId6" Type="http://schemas.openxmlformats.org/officeDocument/2006/relationships/hyperlink" Target="https://arxiv.org/abs/2401.13660" TargetMode="External"/><Relationship Id="rId7" Type="http://schemas.openxmlformats.org/officeDocument/2006/relationships/hyperlink" Target="https://arxiv.org/abs/2402.19155" TargetMode="External"/><Relationship Id="rId8" Type="http://schemas.openxmlformats.org/officeDocument/2006/relationships/hyperlink" Target="https://arxiv.org/abs/2502.14553" TargetMode="External"/><Relationship Id="rId9" Type="http://schemas.openxmlformats.org/officeDocument/2006/relationships/hyperlink" Target="https://www.kaggle.com/docs/notebooks" TargetMode="External"/><Relationship Id="rId10" Type="http://schemas.openxmlformats.org/officeDocument/2006/relationships/hyperlink" Target="https://www.autodl.com/docs/quick_start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719" y="0"/>
            <a:ext cx="8380256" cy="228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13432"/>
            <a:ext cx="12191695" cy="50292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ust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22670"/>
            <a:ext cx="1645920" cy="1252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2953512"/>
            <a:ext cx="9144000" cy="103327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176BA0"/>
                </a:solidFill>
                <a:latin typeface="Noto Sans CJK SC"/>
              </a:defRPr>
            </a:pPr>
            <a:r>
              <a:t>字节域语义内容理解实验说明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7752" y="4279392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000000"/>
                </a:solidFill>
                <a:latin typeface="Noto Sans CJK SC"/>
              </a:defRPr>
            </a:pPr>
            <a:r>
              <a:t>助教：李方成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4279392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000000"/>
                </a:solidFill>
                <a:latin typeface="Noto Sans CJK SC"/>
              </a:defRPr>
            </a:pPr>
            <a:r>
              <a:t>教师：吴科君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4992624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Noto Sans CJK SC"/>
              </a:defRPr>
            </a:pPr>
            <a:r>
              <a:t>lifangcheng2002@163.com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992624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Noto Sans CJK SC"/>
              </a:defRPr>
            </a:pPr>
            <a:r>
              <a:t>kjwu@hust.edu.cn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01 多媒体通信与码流损坏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图像和视频经过压缩编码后，以二进制码流的形式传输、存储和解析。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图像 / 视频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信源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44368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压缩编码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JPEG / H.264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信道或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存储介质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4304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4344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88352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解码与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视觉分析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46336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0344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分类 / 检测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内容理解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127248"/>
            <a:ext cx="489204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像素、压缩文件和字节序列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675887"/>
            <a:ext cx="4983480" cy="1335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同一幅图像可以有不同的表示：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· 像素矩阵：适合传统视觉网络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· JPEG 文件：包含标记、表和扫描数据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· 字节序列：统一处理图像、视频和其他文件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127248"/>
            <a:ext cx="50749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码流损坏为什么值得研究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62472" y="3685032"/>
            <a:ext cx="2386584" cy="1097280"/>
          </a:xfrm>
          <a:prstGeom prst="roundRect">
            <a:avLst/>
          </a:prstGeom>
          <a:solidFill>
            <a:srgbClr val="DD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3840480"/>
            <a:ext cx="2075688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900" b="1">
                <a:solidFill>
                  <a:srgbClr val="31734F"/>
                </a:solidFill>
                <a:latin typeface="Noto Sans CJK SC"/>
              </a:defRPr>
            </a:pPr>
            <a:r>
              <a:t>传输 / 存储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288536"/>
            <a:ext cx="2075688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可能出现错误字节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05672" y="3685032"/>
            <a:ext cx="2386584" cy="1097280"/>
          </a:xfrm>
          <a:prstGeom prst="roundRect">
            <a:avLst/>
          </a:prstGeom>
          <a:solidFill>
            <a:srgbClr val="F5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3840480"/>
            <a:ext cx="2075688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900" b="1">
                <a:solidFill>
                  <a:srgbClr val="BA3F3F"/>
                </a:solidFill>
                <a:latin typeface="Noto Sans CJK SC"/>
              </a:defRPr>
            </a:pPr>
            <a:r>
              <a:t>解码 / 理解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4288536"/>
            <a:ext cx="2075688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可能无法恢复像素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5084064"/>
            <a:ext cx="4901184" cy="8229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码流模型尝试跳过不可靠的解码过程，</a:t>
            </a:r>
          </a:p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直接从字节中提取内容特征。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02 JPEG：从文件标记到扫描数据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JPEG 不是一串无意义的数字；不同段落共同描述图像如何被解码。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3</a:t>
            </a:r>
          </a:p>
        </p:txBody>
      </p:sp>
      <p:pic>
        <p:nvPicPr>
          <p:cNvPr id="8" name="Picture 7" descr="jpeg_bitstream_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3552" y="1773936"/>
            <a:ext cx="9190991" cy="34015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" y="5330952"/>
            <a:ext cx="10561320" cy="804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SOI / EOI 标记文件边界；DQT 和 DHT 保存解码所需的表；SOS 之后是压缩扫描数据。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标记段或扫描数据受损，可能导致解码失败、错块或花屏。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03 H.264：参数、关键帧与预测帧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视频码流由多个 NAL 单元组成，帧之间还存在时间上的依赖关系。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4</a:t>
            </a:r>
          </a:p>
        </p:txBody>
      </p:sp>
      <p:pic>
        <p:nvPicPr>
          <p:cNvPr id="8" name="Picture 7" descr="h264_nal_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786" y="1810512"/>
            <a:ext cx="10318522" cy="3383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" y="5367528"/>
            <a:ext cx="10561320" cy="7040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SPS / PPS 决定后续帧如何解析；IDR 是可以独立解码的关键帧；P、B 帧依赖参考帧。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一处错误可能沿着后续帧传播，这也是视频码流分析比单张图更复杂的原因。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04 突发损坏：Gilbert–Elliott 二状态模型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错误不一定独立均匀出现；网络拥塞、存储故障等因素会让错误连续发生。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5</a:t>
            </a:r>
          </a:p>
        </p:txBody>
      </p:sp>
      <p:pic>
        <p:nvPicPr>
          <p:cNvPr id="8" name="Picture 7" descr="gilbert_elliott_bur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79" y="2409982"/>
            <a:ext cx="6583680" cy="23032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9792" y="1938528"/>
            <a:ext cx="37947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模型的两个状态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79792" y="2542032"/>
            <a:ext cx="3621024" cy="804672"/>
          </a:xfrm>
          <a:prstGeom prst="roundRect">
            <a:avLst/>
          </a:prstGeom>
          <a:solidFill>
            <a:srgbClr val="DD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2724912"/>
            <a:ext cx="3310128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31734F"/>
                </a:solidFill>
                <a:latin typeface="Noto Sans CJK SC"/>
              </a:defRPr>
            </a:pPr>
            <a:r>
              <a:t>G：良好状态，错误率低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9792" y="3538728"/>
            <a:ext cx="3621024" cy="804672"/>
          </a:xfrm>
          <a:prstGeom prst="roundRect">
            <a:avLst/>
          </a:prstGeom>
          <a:solidFill>
            <a:srgbClr val="F5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3721608"/>
            <a:ext cx="3310128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BA3F3F"/>
                </a:solidFill>
                <a:latin typeface="Noto Sans CJK SC"/>
              </a:defRPr>
            </a:pPr>
            <a:r>
              <a:t>B：不良状态，错误率高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936" y="4599432"/>
            <a:ext cx="3685032" cy="92354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p：G → B 的转移概率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r：B → G 的恢复概率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r 越小，突发错误持续越久。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05 码流损坏的影响：为什么需要字节域理解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损坏位置不同，解码器可能直接失败，也可能输出不可靠的像素或后续帧。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792224"/>
            <a:ext cx="10332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损坏位置 → 解码结果 → 对视觉模型的影响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340864"/>
            <a:ext cx="3401568" cy="1965960"/>
          </a:xfrm>
          <a:prstGeom prst="roundRect">
            <a:avLst/>
          </a:prstGeom>
          <a:solidFill>
            <a:srgbClr val="F5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542032"/>
            <a:ext cx="310896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文件头 / 参数表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026664"/>
            <a:ext cx="3072384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JPEG 的 SOI、DQT、DHT；</a:t>
            </a:r>
          </a:p>
          <a:p>
            <a:pPr algn="ctr"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H.264 的 SPS、PPS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785615"/>
            <a:ext cx="3072384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BA3F3F"/>
                </a:solidFill>
                <a:latin typeface="Noto Sans CJK SC"/>
              </a:defRPr>
            </a:pPr>
            <a:r>
              <a:t>无法解析文件或后续帧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340864"/>
            <a:ext cx="3401568" cy="1965960"/>
          </a:xfrm>
          <a:prstGeom prst="roundRect">
            <a:avLst/>
          </a:prstGeom>
          <a:solidFill>
            <a:srgbClr val="F4E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542032"/>
            <a:ext cx="310896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扫描数据 / 关键帧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3026664"/>
            <a:ext cx="3072384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JPEG 压缩数据；</a:t>
            </a:r>
          </a:p>
          <a:p>
            <a:pPr algn="ctr"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H.264 的 IDR、P、B 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3785615"/>
            <a:ext cx="3072384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BA3F3F"/>
                </a:solidFill>
                <a:latin typeface="Noto Sans CJK SC"/>
              </a:defRPr>
            </a:pPr>
            <a:r>
              <a:t>错块、花屏、错误传播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7" y="2340864"/>
            <a:ext cx="3401568" cy="1965960"/>
          </a:xfrm>
          <a:prstGeom prst="roundRect">
            <a:avLst/>
          </a:prstGeom>
          <a:solidFill>
            <a:srgbClr val="E8E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2542032"/>
            <a:ext cx="310896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解码输出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3026664"/>
            <a:ext cx="3072384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像素缺失、尺寸异常或</a:t>
            </a:r>
          </a:p>
          <a:p>
            <a:pPr algn="ctr"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整段视频无法恢复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3785615"/>
            <a:ext cx="3072384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BA3F3F"/>
                </a:solidFill>
                <a:latin typeface="Noto Sans CJK SC"/>
              </a:defRPr>
            </a:pPr>
            <a:r>
              <a:t>像素域模型没有可靠输入</a:t>
            </a:r>
          </a:p>
        </p:txBody>
      </p:sp>
      <p:pic>
        <p:nvPicPr>
          <p:cNvPr id="21" name="Picture 20" descr="byteaction_frame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9115" y="4645152"/>
            <a:ext cx="1721985" cy="1216152"/>
          </a:xfrm>
          <a:prstGeom prst="rect">
            <a:avLst/>
          </a:prstGeom>
        </p:spPr>
      </p:pic>
      <p:pic>
        <p:nvPicPr>
          <p:cNvPr id="22" name="Picture 21" descr="vub_motiv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9048" y="4681728"/>
            <a:ext cx="1949823" cy="106070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1248" y="5934456"/>
            <a:ext cx="104058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传统流程：码流 → 解码 → 像素 → 视觉模型　　字节域流程：码流 → 字节模型 → 分类或语义理解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06 代表性字节模型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字节模型直接读取 0—255 字节值，重点解决超长序列和多尺度结构建模。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MEGABYTE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全局模型处理字节块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局部模型预测块内字节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层级生成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07791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5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5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卷积缩短序列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窗口 Transformer 分类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文件分类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21224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MambaByte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选择性状态空间模型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近似线性处理长序列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长序列建模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34656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bGPT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2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Patch-level + Byte-level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多模态字节生成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62672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通用字节生成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8088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48672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mBLM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48672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76104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多层级 Byte Patch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Transformer / Mamba 可选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76104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百万字节上下文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" y="5349240"/>
            <a:ext cx="10689336" cy="576072"/>
          </a:xfrm>
          <a:prstGeom prst="roundRect">
            <a:avLst/>
          </a:prstGeom>
          <a:solidFill>
            <a:srgbClr val="DD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5504688"/>
            <a:ext cx="1036929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课程选择 ByteFormer：面向文件分类，有公开代码和预训练权重，适合完成 MNIST 微调。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07 ByteFormer框架与课程任务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8</a:t>
            </a:r>
          </a:p>
        </p:txBody>
      </p:sp>
      <p:pic>
        <p:nvPicPr>
          <p:cNvPr id="7" name="Picture 6" descr="byteformer_model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012" y="1755647"/>
            <a:ext cx="3566160" cy="3566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715000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76BA0"/>
                </a:solidFill>
                <a:latin typeface="Noto Sans CJK SC"/>
              </a:defRPr>
            </a:pPr>
            <a:r>
              <a:t>MNIST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图像 / JPEG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4576" y="2276856"/>
            <a:ext cx="201168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14032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2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76BA0"/>
                </a:solidFill>
                <a:latin typeface="Noto Sans CJK SC"/>
              </a:defRPr>
            </a:pPr>
            <a:r>
              <a:t>字节序列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0—255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2276856"/>
            <a:ext cx="201168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13064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8784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预训练主干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276856"/>
            <a:ext cx="201168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12096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57816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76BA0"/>
                </a:solidFill>
                <a:latin typeface="Noto Sans CJK SC"/>
              </a:defRPr>
            </a:pPr>
            <a:r>
              <a:t>分类结果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57816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数字 0—9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9864" y="3328416"/>
            <a:ext cx="5166360" cy="17190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使用公开的ByteFormer Tiny预训练权重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将分类头改为10个类别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在训练集更新参数，用验证集选择模型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最后在独立测试集上报告结果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5596128"/>
            <a:ext cx="10643616" cy="530352"/>
          </a:xfrm>
          <a:prstGeom prst="roundRect">
            <a:avLst/>
          </a:prstGeom>
          <a:solidFill>
            <a:srgbClr val="DD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733288"/>
            <a:ext cx="1027785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基础任务：完成码流图像分类、参数对比和结果分析。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08 课程数据集与三类划分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课程仓库已经提供固定划分，所有同学使用相同样本。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9</a:t>
            </a:r>
          </a:p>
        </p:txBody>
      </p:sp>
      <p:pic>
        <p:nvPicPr>
          <p:cNvPr id="8" name="Picture 7" descr="mnist_dig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825496"/>
            <a:ext cx="4572000" cy="1828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504688" y="1993392"/>
            <a:ext cx="1728216" cy="2907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2203704"/>
            <a:ext cx="1527048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训练集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05272" y="2761488"/>
            <a:ext cx="1527048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700" b="1">
                <a:solidFill>
                  <a:srgbClr val="243547"/>
                </a:solidFill>
                <a:latin typeface="Noto Sans CJK SC"/>
              </a:defRPr>
            </a:pPr>
            <a:r>
              <a:t>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59" y="3465576"/>
            <a:ext cx="1490472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每类500张</a:t>
            </a:r>
          </a:p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包含原图与轻微旋转、平移视图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59" y="1993392"/>
            <a:ext cx="1728216" cy="2907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52943" y="2203704"/>
            <a:ext cx="1527048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验证集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2943" y="2761488"/>
            <a:ext cx="1527048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700" b="1">
                <a:solidFill>
                  <a:srgbClr val="243547"/>
                </a:solidFill>
                <a:latin typeface="Noto Sans CJK SC"/>
              </a:defRPr>
            </a:pPr>
            <a: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3465576"/>
            <a:ext cx="1490472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每类100张</a:t>
            </a:r>
          </a:p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用于选择最佳模型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00032" y="1993392"/>
            <a:ext cx="1728216" cy="2907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0615" y="2203704"/>
            <a:ext cx="1527048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测试集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0615" y="2761488"/>
            <a:ext cx="1527048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700" b="1">
                <a:solidFill>
                  <a:srgbClr val="243547"/>
                </a:solidFill>
                <a:latin typeface="Noto Sans CJK SC"/>
              </a:defRPr>
            </a:pPr>
            <a:r>
              <a:t>1,000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18904" y="3465576"/>
            <a:ext cx="1490472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每类100张</a:t>
            </a:r>
          </a:p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训练结束后独立评估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4416" y="5266944"/>
            <a:ext cx="5596128" cy="5577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数据文件：data/course_1of10/　测试集不参与训练和模型选择。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09 实验环境与在线平台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平台界面、免费额度和租用价格可能调整，以平台当前页面为准。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214884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4663440"/>
                <a:gridCol w="388620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运行平台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适用情况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入口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Kaggle免费GPU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推荐；导入课程Notebook后运行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Notebook + Internet + 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AutoDL租用GPU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Kaggle额度不足时使用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选择PyTorch镜像，打开Terminal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本地GPU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已安装Python 3.9—3.12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pip install -r requirements-local.txt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95528" y="4956048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知乎｜Kaggle GPU资源使用教程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4956048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CSDN｜Kaggle平台使用指导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5486400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Kaggle官方Notebook文档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5486400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AutoDL官方快速开始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10 获取代码、数据与预训练权重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课程Notebook中已经写好相同命令。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48256"/>
            <a:ext cx="10725912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176272"/>
            <a:ext cx="10396728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!git clone https://github.com/Franklin-L/byteformer-mnist-course.git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%cd /kaggle/working/byteformer-mnist-course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-m pip install -r requirements.txt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prepare.py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4105656"/>
            <a:ext cx="106070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看到[READY]即准备完成；课程数据集随仓库提供，ByteFormer预训练权重自动下载并校验。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855464"/>
            <a:ext cx="10607040" cy="1042415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train_course_subset.py：训练　evaluate_course_corruption.py：测试</a:t>
            </a:r>
          </a:p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predict.py：单图预测　data/course_1of10/：固定数据　outputs/：实验结果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11 模型训练与参数设置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37943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29384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训练 / 验证 / 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3512" y="1929384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5,000 / 1,000 / 1,000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68879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560320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训练轮数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560320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根据验证结果自行设置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99815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191256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batch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3191256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自行设置，参考32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730752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822191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学习率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3512" y="3822191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主干1e-4；分类头10倍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361688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453127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输入增强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3512" y="4453127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轻微旋转与水平平移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9048" y="1874519"/>
            <a:ext cx="5321808" cy="199339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2002536"/>
            <a:ext cx="4992624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EPOCHS = int(input("epochs: "))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BATCH_SIZE = int(input("batch: "))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!python train_course_subset.py \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  --method clean --epochs {EPOCHS} \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  --batch-size {BATCH_SIZE} --clean-augmentations \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  --output outputs/course_clean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4197096"/>
            <a:ext cx="4965192" cy="10789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训练过程中观察验证集准确率；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结果保存在outputs/course_clean/。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104698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轮数与batch size没有固定答案，请在报告中写明自己的设置。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12 训练结果分析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10698480" cy="1143000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38528"/>
            <a:ext cx="10369296" cy="8869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900" b="0">
                <a:solidFill>
                  <a:srgbClr val="FFFFFF"/>
                </a:solidFill>
                <a:latin typeface="DejaVu Sans Mono"/>
              </a:defRPr>
            </a:pPr>
            <a:r>
              <a:t>from IPython.display import display, Image</a:t>
            </a:r>
          </a:p>
          <a:p>
            <a:pPr>
              <a:spcAft>
                <a:spcPts val="300"/>
              </a:spcAft>
              <a:defRPr sz="1900" b="0">
                <a:solidFill>
                  <a:srgbClr val="FFFFFF"/>
                </a:solidFill>
                <a:latin typeface="DejaVu Sans Mono"/>
              </a:defRPr>
            </a:pPr>
            <a:r>
              <a:t>display(Image("outputs/course_clean/curves.png"))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3346704"/>
            <a:ext cx="3547872" cy="173736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958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训练损失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2"/>
            <a:ext cx="3218688" cy="804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是否总体下降？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是否出现明显波动？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3346704"/>
            <a:ext cx="3547872" cy="173736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352958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验证结果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4142232"/>
            <a:ext cx="3218688" cy="804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准确率怎样变化？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最佳结果出现在哪一轮？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3346704"/>
            <a:ext cx="3547872" cy="173736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0496" y="352958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测试结果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0496" y="4142232"/>
            <a:ext cx="3218688" cy="804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加载验证集选出的模型，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在独立测试集上评估。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5513832"/>
            <a:ext cx="10424160" cy="5577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history.csv保存每轮结果；metrics.json保存最佳轮次、参数和运行时间。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13 测试、单图预测与错例检查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92224"/>
            <a:ext cx="10744200" cy="148132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10415016" cy="12252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!python evaluate_course_corruption.py \</a:t>
            </a:r>
          </a:p>
          <a:p>
            <a:pPr>
              <a:spcAft>
                <a:spcPts val="30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  --checkpoint outputs/course_clean/best.pt --output outputs/course_clean_eval</a:t>
            </a:r>
          </a:p>
          <a:p>
            <a:pPr>
              <a:spcAft>
                <a:spcPts val="30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!python predict.py --checkpoint outputs/course_clean/best.pt --index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575304"/>
            <a:ext cx="5687568" cy="1764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Clean：基础任务的独立测试结果。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Medium-Flip / Loss / Mixed：加分项使用。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将--index改成其他测试索引，可查看预测概率。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结合预测图和错误索引分析典型错例。</a:t>
            </a:r>
          </a:p>
        </p:txBody>
      </p:sp>
      <p:pic>
        <p:nvPicPr>
          <p:cNvPr id="10" name="Picture 9" descr="example_dig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708" y="3429000"/>
            <a:ext cx="1993392" cy="19933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67728" y="5513832"/>
            <a:ext cx="3995928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真实标签7 ｜ 模型预测7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14 参数对比实验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1828800"/>
            <a:ext cx="10707624" cy="194767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956816"/>
            <a:ext cx="10378440" cy="16916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COMPARISON_EPOCHS = int(input("epochs: "))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COMPARISON_BATCH_SIZE = int(input("batch: "))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!python train_course_subset.py --method clean \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--epochs {COMPARISON_EPOCHS} --batch-size {COMPARISON_BATCH_SIZE} \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--clean-augmentations --output outputs/comparison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977639"/>
            <a:ext cx="5257800" cy="1490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轮数和batch size均可自行设置。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建议一次只改变一个参数，其他条件保持一致。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保留第一次结果，另存outputs/comparison。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9088" y="3941063"/>
            <a:ext cx="4736592" cy="157276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0256" y="4087368"/>
            <a:ext cx="4334256" cy="12618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比较内容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验证集准确率与训练时间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损失曲线和收敛速度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参数变化带来的收益与代价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760720"/>
            <a:ext cx="1037844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报告中列出两次设置及结果，并说明比较结论。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15 AutoDL运行与常见问题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73936"/>
            <a:ext cx="5605272" cy="3246120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01952"/>
            <a:ext cx="5276088" cy="299008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cd /root/autodl-tmp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git clone https://github.com/Franklin-L/byteformer-mnist-course.git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cd byteformer-mnist-course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python -m pip install -r requirements.txt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python prepare.py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python train_course_subset.py --method clean \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  --epochs "$EPOCHS" --batch-size "$BATCH_SIZE" \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  --clean-augmentations --output outputs/course_clean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1828800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93992" y="1929384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没有使用GPU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5048" y="1929384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检查Kaggle加速器或AutoDL实例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2660904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2" y="2761488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缺少Python包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761488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重新安装requirements.txt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3493008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93992" y="3593592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显存不足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3593592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减小batch size并记录实际值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4325112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4425696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输出目录已有文件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4425696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改用新的output目录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303520"/>
            <a:ext cx="5532120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运行前在Terminal中设置EPOCHS和BATCH_SIZE；</a:t>
            </a:r>
          </a:p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实验结束后下载outputs并在控制台关机。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1696" y="5486400"/>
            <a:ext cx="43891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AutoDL官方快速开始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16 实验结果与报告提交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10512"/>
            <a:ext cx="5513832" cy="33924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① 保存训练曲线和测试结果。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② 完成一次参数对比。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③ 展示单图预测或典型错例。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④ 填写实验环境、命令、参数与结果分析。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⑤ 打包代码、结果图和实验报告。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数据集和Python环境不需要重复提交。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6248" y="1856231"/>
            <a:ext cx="45720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基础任务检查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6528816" y="245059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5976" y="249631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完成训练、验证和测试流程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28816" y="2916936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2962656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记录实际轮数与batch size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28816" y="3383280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3429000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区分验证集结果和测试集结果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28816" y="3849624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5976" y="3895344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说明曲线变化与参数对比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8816" y="4315968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4361688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给出预测结果与错例分析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28816" y="478231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482803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提交个人实验报告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769864"/>
            <a:ext cx="10451592" cy="5212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报告分别列出训练集、验证集和测试集的用途与结果。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17 加分项：损坏码流分类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课程提供与干净测试集对应的损坏测试数据，共包含以下两种基本损坏。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947672"/>
            <a:ext cx="3401568" cy="1371600"/>
          </a:xfrm>
          <a:prstGeom prst="roundRect">
            <a:avLst/>
          </a:prstGeom>
          <a:solidFill>
            <a:srgbClr val="F6E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12264"/>
            <a:ext cx="3054096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BA3F3F"/>
                </a:solidFill>
                <a:latin typeface="Noto Sans CJK SC"/>
              </a:defRPr>
            </a:pPr>
            <a:r>
              <a:t>Bit flip｜比特翻转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15184"/>
            <a:ext cx="3026664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翻转选中字节的1位（长度不变）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10100110 → 10100010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947672"/>
            <a:ext cx="3401568" cy="1371600"/>
          </a:xfrm>
          <a:prstGeom prst="roundRect">
            <a:avLst/>
          </a:prstGeom>
          <a:solidFill>
            <a:srgbClr val="F4E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112264"/>
            <a:ext cx="3054096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A46A25"/>
                </a:solidFill>
                <a:latin typeface="Noto Sans CJK SC"/>
              </a:defRPr>
            </a:pPr>
            <a:r>
              <a:t>Byte loss｜字节丢失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6" y="2615184"/>
            <a:ext cx="3026664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删除字节，后续字节前移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FF D8 A1 3C → FF D8 3C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947672"/>
            <a:ext cx="3401568" cy="13716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112264"/>
            <a:ext cx="3054096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Mixed｜混合损坏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596896"/>
            <a:ext cx="3026664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每个样本随机选择翻转或丢失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检验模型对未知损坏的适应能力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3593592"/>
            <a:ext cx="251460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可以尝试的方向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041648"/>
            <a:ext cx="3401568" cy="10789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4178808"/>
            <a:ext cx="3145536" cy="3017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① 结果分析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4535424"/>
            <a:ext cx="31455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比较Clean、Flip、Loss、Mixed，观察哪类损坏影响更大。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5696" y="4041648"/>
            <a:ext cx="3401568" cy="10789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178808"/>
            <a:ext cx="3145536" cy="3017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② 损坏增强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535424"/>
            <a:ext cx="31455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训练时随机加入bit flip和byte loss样本。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4041648"/>
            <a:ext cx="3401568" cy="10789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4178808"/>
            <a:ext cx="3145536" cy="3017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③ 一致性约束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535424"/>
            <a:ext cx="31455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让同一图像的干净码流与损坏码流输出接近。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404104"/>
            <a:ext cx="20299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647483"/>
                </a:solidFill>
                <a:latin typeface="Noto Sans CJK SC"/>
              </a:defRPr>
            </a:pPr>
            <a:r>
              <a:t>参考资料：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5385816"/>
            <a:ext cx="23317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CBSU-ALLM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5385816"/>
            <a:ext cx="20574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BRACE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5385816"/>
            <a:ext cx="20574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BSCV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" y="5824728"/>
            <a:ext cx="104698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提交改进方法、训练设置以及四类测试结果；可自行组合其他增强或鲁棒训练方法。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18 配套材料与参考文献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实验步骤、命令和数据说明见课程仓库与Notebook。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8470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课程仓库：代码、Notebook、数据、PPT和报告模板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042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ByteFormer：Bytes Are All You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7614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MEGABYTE：Predicting Million-byte Sequences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186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MambaByte：Token-free Selective State Space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6758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bGPT：Byte Models are Digital World Simulators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8"/>
              </a:rPr>
              <a:t>mBLM：Hierarchical Transformers for Byte Modeling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5902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9"/>
              </a:rPr>
              <a:t>Kaggle Notebook官方文档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0474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10"/>
              </a:rPr>
              <a:t>AutoDL官方快速开始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字节域语义内容理解实验说明</dc:title>
  <dc:subject>字节模型与ByteFormer码流图像分类实验</dc:subject>
  <dc:creator>Franklin-L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