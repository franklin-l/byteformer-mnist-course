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沿用教师样例的校园、校徽与白蓝风格，不沿用旧老师邮箱、截止日期或其他旧课程信息。本课PPT压缩为15页；逐格操作细节见course_kaggle.ipynb和README。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先展示最终任务，再介绍学习路线：准备环境和资源、训练、评估/预测、单参数练习、提交。评分见第14页。不会要求学生从零编写神经网络。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ByteFormer处理JPEG文件字节，不是ViT像素patch。MNIST灰度图转RGB后保存28x28 quality100 JPEG。模型167个主干张量严格匹配官方权重；教学移植修复padding/shift mask，见THIRD_PARTY_NOTICES.md。微调前新分类头未学习MNIST，不代表原ImageNet模型的原任务准确率。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验证集用于选模型，测试集只作最终评估，不能用测试分数反复调参。种子42排列官方60000训练部分，前50000训练、后10000验证候选，再取验证池前1000；种子43排列官方10000测试部分。正式默认测试全部10000。首次实测先测1000再用相同锁定模型独立全测10000，原始两份报告分别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平台网页步骤依据官方文档整理；本课程尚未登录Kaggle或AutoDL实际账号执行。所有展示的准确率、时间来自本地记录的RTX4090实验。无需在学生个人电脑安装CUDA。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程仅作平台准备入口，不要求运行文章中的示例项目。中文教程来自搜索检索；CSDN和知乎限制自动读取，本次未逐图核验，授课前请用学生浏览器确认可访问性。界面、验证和GPU额度以Kaggle实际页面及官方文档为准。下载原始ipynb文件后在Kaggle导入；课程尚未登录Kaggle账号实机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book实际使用绝对目标路径并检测已有目录，重复运行不会删除结果。默认Kaggle工作目录为/kaggle/working。requirements只安装轻量依赖、限制NumPy&lt;2，不重装平台PyTorch/CUDA。数据4个MD5、权重SHA256已实测；资源缺失可重新运行prepare。网络受限可使用教师含数据和权重的课堂资源包，仍需已有PyTorch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epochs和batch size由学生输入；参考配置为train50000/val1000/test10000/batch32/lr1e-4/milestones4,6/gamma0.2/seed42。原正式实测训练末先测试1000，之后独立全10000；发布默认把最终测试整合成10000，共用同一score代码。输出目录已有best.pt时会报错保护结果；重跑换output且对应修改后续checkpoint。模型从官方权重全参数微调，AdamW weight_decay0.01，分类头10倍学习率。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果来自examples/course_baseline与course_full_test。完整10000测试97.07%(9707/10000)，由验证97.30%选择第5轮模型；轮数是该次实测记录，不是课程要求。曲线蓝色训练、橙色验证。loss通常希望下降，accuracy通常希望上升；训练与验证差距反映泛化。完整测试不用于选最佳轮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测图为测试顺序前12张加最多4个实际错例，不能用图中正确比例当整体准确率。index是原始测试索引，和随机排列后的行号不同；Notebook已自动映射。概率是模型softmax分数，不等于已校准可信度。自制图片可用--image assets/example_digit.png，黑底白字、单个居中数字。评估不改训练metrics.json。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学生自行设置轮数与batch size；参考值不构成固定要求，建议一次只改变其中一项。根据训练与验证曲线比较；测试成绩只作最终记录。对比从同一官方预训练权重开始，不是在baseline上续训。保持其他参数相同并保留独立输出。更多轮数未必更好；需记录自己的实际设置与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按AutoDL控制台选择空闲GPU、计费方式和PyTorch镜像，无需多卡。GPU检查命令python -c "import torch; print(torch.cuda.is_available())"。GitHub慢可用仓库ZIP上传解压进入正确目录。下载打包详细命令见README。关机与数据保留按当前官方规则，不承诺永久保存。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不要为一个warning盲目重装CUDA。出现cuDNN plan fallback但程序继续且loss有限可记录；Traceback且进程停止时看最后一行。CPU小样本路线已实测通过，但不是完整作业。所有操作均不需要修改其他同学的环境或删除公共数据。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Word模板路径docs/学生实验报告模板.docx。ZIP只含json/csv/png/npz小文件，不含best.pt；若后续想预测请另存模型。Kaggle ZIP在/kaggle/working根目录，AutoDL打包命令见README。评分重操作和解释，不按准确率排名替代教学目标。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所有链接为可点击链接。PPT共15页，对齐教师样例的信息密度；课堂主讲只需本PPT，学生逐步实操使用Notebook。未进行真实Kaggle或AutoDL登录执行，所有性能结果注明本地实测。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github.com/Franklin-L/byteformer-mnist-course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Relationship Id="rId4" Type="http://schemas.openxmlformats.org/officeDocument/2006/relationships/hyperlink" Target="https://www.kaggle.com/code" TargetMode="External"/><Relationship Id="rId5" Type="http://schemas.openxmlformats.org/officeDocument/2006/relationships/hyperlink" Target="https://www.autodl.com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Relationship Id="rId4" Type="http://schemas.openxmlformats.org/officeDocument/2006/relationships/hyperlink" Target="https://zhuanlan.zhihu.com/p/18209757723" TargetMode="External"/><Relationship Id="rId5" Type="http://schemas.openxmlformats.org/officeDocument/2006/relationships/hyperlink" Target="https://blog.csdn.net/yyyyyybw/article/details/148336854" TargetMode="External"/><Relationship Id="rId6" Type="http://schemas.openxmlformats.org/officeDocument/2006/relationships/hyperlink" Target="https://www.kaggle.com/docs/notebooks" TargetMode="External"/><Relationship Id="rId7" Type="http://schemas.openxmlformats.org/officeDocument/2006/relationships/hyperlink" Target="https://github.com/Franklin-L/byteformer-mnist-course/raw/refs/heads/main/course_kaggle.ipynb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Relationship Id="rId4" Type="http://schemas.openxmlformats.org/officeDocument/2006/relationships/hyperlink" Target="https://www.autodl.com/docs/quick_start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Relationship Id="rId4" Type="http://schemas.openxmlformats.org/officeDocument/2006/relationships/hyperlink" Target="https://github.com/Franklin-L/byteformer-mnist-course" TargetMode="External"/><Relationship Id="rId5" Type="http://schemas.openxmlformats.org/officeDocument/2006/relationships/hyperlink" Target="https://www.kaggle.com/docs/notebooks" TargetMode="External"/><Relationship Id="rId6" Type="http://schemas.openxmlformats.org/officeDocument/2006/relationships/hyperlink" Target="https://www.autodl.com/docs/quick_start/" TargetMode="External"/><Relationship Id="rId7" Type="http://schemas.openxmlformats.org/officeDocument/2006/relationships/hyperlink" Target="https://arxiv.org/abs/2306.00238" TargetMode="External"/><Relationship Id="rId8" Type="http://schemas.openxmlformats.org/officeDocument/2006/relationships/hyperlink" Target="https://github.com/apple/corenet/tree/main/projects/byteformer" TargetMode="External"/><Relationship Id="rId9" Type="http://schemas.openxmlformats.org/officeDocument/2006/relationships/hyperlink" Target="https://github.com/cvdfoundation/mnis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m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719" y="0"/>
            <a:ext cx="8380256" cy="228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313432"/>
            <a:ext cx="12191695" cy="50292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ust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22670"/>
            <a:ext cx="1645920" cy="12527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2770632"/>
            <a:ext cx="8869680" cy="103327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76BA0"/>
                </a:solidFill>
                <a:latin typeface="Noto Sans CJK SC"/>
              </a:defRPr>
            </a:pPr>
            <a:r>
              <a:t>ByteFormer 微调 MNIST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78608" y="3913632"/>
            <a:ext cx="8686800" cy="685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0">
                <a:solidFill>
                  <a:srgbClr val="243547"/>
                </a:solidFill>
                <a:latin typeface="Noto Sans CJK SC"/>
              </a:defRPr>
            </a:pPr>
            <a:r>
              <a:t>零基础图像分类实验课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7752" y="4846320"/>
            <a:ext cx="877824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647483"/>
                </a:solidFill>
                <a:latin typeface="Noto Sans CJK SC"/>
              </a:defRPr>
            </a:pPr>
            <a:r>
              <a:t>按步骤运行 · 查看真实结果 · 亲手修改一个参数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5879592"/>
            <a:ext cx="91440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https://github.com/Franklin-L/byteformer-mnist-course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01 任务要求与完成路线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0195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82880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完成一次真实微调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19456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加载官方预训练ByteFormer，识别MNIST手写数字0—9；教师正式测试97.07%。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3639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06324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亲手完成三个操作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42900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自行设置参数并微调 → 观察验证曲线 → 查看并解释一个错例。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7083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29768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交付自己的实验记录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66344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保留指标、曲线、错例和Word报告，不能用教师结果代替自己的运行。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02 实验原理：文件字节输入 + 预训练微调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手写数字图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0088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JPEG 文件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93792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字节序列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61504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ByteFormer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45752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29216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93224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数字0—9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264408"/>
            <a:ext cx="10652760" cy="21488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① 加载Apple官方ImageNet JPEG预训练ByteFormer Tiny。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② 保留完整12层主干，把原1000类分类头换成10类。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③ 使用MNIST继续训练全部参数，输出数字0—9的分类结果。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" y="5550408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647483"/>
                </a:solidFill>
                <a:latin typeface="Noto Sans CJK SC"/>
              </a:defRPr>
            </a:pPr>
            <a:r>
              <a:t>学生只需运行脚本；图像转JPEG、字节读取、模型加载均已封装。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03 MNIST 数据与训练 / 验证 / 测试划分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4</a:t>
            </a:r>
          </a:p>
        </p:txBody>
      </p:sp>
      <p:pic>
        <p:nvPicPr>
          <p:cNvPr id="9" name="Picture 8" descr="mnist_dig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911095"/>
            <a:ext cx="4617720" cy="1847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" y="4288536"/>
            <a:ext cx="438912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28×28灰度图；10个数字类别。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原始文件已随GitHub仓库提供。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9552" y="1874519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15000" y="1965960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训练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50,000张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139696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更新模型参数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59552" y="2953511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3044951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验证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1,000张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218687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每轮检查，选择best.pt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59552" y="4032504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0" y="4123944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测试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10,000张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4297680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模型确定后最终评估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596128"/>
            <a:ext cx="1065276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官方60,000张训练图先分为50,000训练池+10,000验证池；本课固定取1,000验证图，余9,000张未使用。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04 平台与配套材料：优先 Kaggle，备用 AutoDL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免费额度、可用GPU与租用价格，以平台当前页面为准。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2148840"/>
          <a:ext cx="10789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114800"/>
                <a:gridCol w="429768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路线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学生要准备什么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使用方式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Kaggle免费GPU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账号、可用GPU额度、Internet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导入课程Notebook，逐格运行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AutoDL备用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按当前报价租1张GPU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选择PyTorch镜像，打开Terminal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本地CPU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已有Python/PyTorch环境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小样本流程检查，不替代正式实验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8096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Kaggle：创建Notebook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AutoDL：实例与价格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605272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配套：course_kaggle.ipynb逐步操作 ｜ README完整命令 ｜ Word实验报告模板。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05 Kaggle GPU：课前教程与课程入口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38528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知乎｜Kaggle GPU资源使用教程——针对超级小白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615184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724912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CSDN｜科研小白扫盲：Kaggle平台使用指导指南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401568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511296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Kaggle官方｜Notebook使用文档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462272"/>
            <a:ext cx="104241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7"/>
              </a:rPr>
              <a:t>课程Notebook：下载course_kaggle.ipynb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" y="5102352"/>
            <a:ext cx="10378440" cy="7132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按教程准备好GPU后，导入课程Notebook，逐格运行。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环境检查显示 GPU available: True，即可继续实验。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06 获取代码、数据与预训练权重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Kaggle笔记本已写好这些命令，按顺序运行即可。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10725912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76856"/>
            <a:ext cx="10396728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!git clone https://github.com/Franklin-L/byteformer-mnist-course.git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%cd /kaggle/working/byteformer-mnist-course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-m pip install -r requirements.txt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prepare.py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4251960"/>
            <a:ext cx="1060704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看到[READY]即准备完成：MNIST约11.6MB随仓库提供；官方权重约64MB自动下载并校验。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230368"/>
            <a:ext cx="10607040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prepare.py：准备资源　train.py：微调　evaluate.py：评估　predict.py：预测</a:t>
            </a:r>
          </a:p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data/：数据　checkpoints/：预训练权重　outputs/：你自己的实验结果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07 正式训练：看懂参数，运行一条命令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56231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947672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训练样本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947672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50,000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87168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578608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验证 / 测试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578608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1,000 / 10,000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118103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209544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训练轮数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209544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自行设置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49039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840479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batch 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840479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自行设置，参考32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379975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471415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学习率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4471415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主干1e-4；分类头10倍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1911095"/>
            <a:ext cx="5230368" cy="171907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79" y="2039112"/>
            <a:ext cx="4901183" cy="1463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EPOCHS = int(input("epochs: "))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BATCH_SIZE = int(input("batch: "))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!python train.py --epochs {EPOCHS} \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  --batch-size {BATCH_SIZE}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886200"/>
            <a:ext cx="4919472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看到[DONE]即训练完成。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结果保存到outputs/baseline/。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请记录实际使用的参数。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596128"/>
            <a:ext cx="104698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训练轮数和batch size均可调整；参考值仅供起步，测试集只作最终评估。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08 正式实测结果：先用验证选模型，再做测试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801368"/>
            <a:ext cx="3566160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901952"/>
            <a:ext cx="3328416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最佳验证准确率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221992"/>
            <a:ext cx="332841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500" b="1">
                <a:solidFill>
                  <a:srgbClr val="176BA0"/>
                </a:solidFill>
                <a:latin typeface="Noto Sans CJK SC"/>
              </a:defRPr>
            </a:pPr>
            <a:r>
              <a:t>97.30%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90288" y="1801368"/>
            <a:ext cx="3566160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59" y="1901952"/>
            <a:ext cx="3328416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完整测试准确率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2221992"/>
            <a:ext cx="332841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500" b="1">
                <a:solidFill>
                  <a:srgbClr val="176BA0"/>
                </a:solidFill>
                <a:latin typeface="Noto Sans CJK SC"/>
              </a:defRPr>
            </a:pPr>
            <a:r>
              <a:t>97.07%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1801368"/>
            <a:ext cx="3566160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31352" y="1901952"/>
            <a:ext cx="3328416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模型选择依据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2" y="2221992"/>
            <a:ext cx="332841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500" b="1">
                <a:solidFill>
                  <a:srgbClr val="176BA0"/>
                </a:solidFill>
                <a:latin typeface="Noto Sans CJK SC"/>
              </a:defRPr>
            </a:pPr>
            <a:r>
              <a:t>验证集表现</a:t>
            </a:r>
          </a:p>
        </p:txBody>
      </p:sp>
      <p:pic>
        <p:nvPicPr>
          <p:cNvPr id="18" name="Picture 17" descr="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9599" y="2926080"/>
            <a:ext cx="7858897" cy="29077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2104" y="5971032"/>
            <a:ext cx="104698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47483"/>
                </a:solidFill>
                <a:latin typeface="Noto Sans CJK SC"/>
              </a:defRPr>
            </a:pPr>
            <a:r>
              <a:t>本次教师实测约11.88分钟，不含安装下载及末尾出图。云平台耗时以实际运行为准。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09 评估、单图预测与错例检查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10744200" cy="1197864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956816"/>
            <a:ext cx="10415016" cy="9418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evaluate.py --checkpoint outputs/baseline/best.pt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predict.py --checkpoint outputs/baseline/best.pt --index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374136"/>
            <a:ext cx="5513832" cy="19751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评估：读取best.pt，保存evaluation.json。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预测：显示真实标签与预测，生成单图结果。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实操：换一个0—9999的测试索引。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错例：Notebook自动给出错误样本索引。</a:t>
            </a:r>
          </a:p>
        </p:txBody>
      </p:sp>
      <p:pic>
        <p:nvPicPr>
          <p:cNvPr id="12" name="Picture 11" descr="example_di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3246120"/>
            <a:ext cx="2084831" cy="208483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0" y="5440680"/>
            <a:ext cx="420624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真实标签7 ｜ 模型预测7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05856"/>
            <a:ext cx="59436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Notebook另提供完整预测图和混淆矩阵，供查找与分析错例。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10 学生实操：自行设置，观察验证结果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" y="1856231"/>
            <a:ext cx="10707624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1984248"/>
            <a:ext cx="10378440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COMPARISON_EPOCHS = int(input("epochs: "))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COMPARISON_BATCH_SIZE = int(input("batch: "))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train.py --epochs {COMPARISON_EPOCHS} \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  --batch-size {COMPARISON_BATCH_SIZE} --output outputs/comparison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822191"/>
            <a:ext cx="5257800" cy="17922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轮数和batch size均自行设置，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建议一次只改变其中一项。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数据、随机种子和预训练来源相同。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保留baseline，另存comparison。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37376" y="3767328"/>
            <a:ext cx="4718304" cy="19019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3886200"/>
            <a:ext cx="4315968" cy="1655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用自己的结果回答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验证准确率是否提高？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训练损失怎样变化？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改变设置的收益与代价？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为什么还需要验证集？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24728"/>
            <a:ext cx="1037844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记录两次实验的参数、验证准确率与耗时，解释设置变化带来的影响。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11 AutoDL 备用路线：开机 → 运行 → 下载 → 关机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792224"/>
            <a:ext cx="10652760" cy="621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租用1张GPU并选择PyTorch镜像 → 打开JupyterLab → Terminal；以下命令前不加 !。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423160"/>
            <a:ext cx="10707624" cy="249631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51176"/>
            <a:ext cx="10378440" cy="22402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/root/autodl-tmp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clone https://github.com/Franklin-L/byteformer-mnist-course.git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byteformer-mnist-course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-m pip install -r requirements.txt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prepare.py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read -p "epochs: " EPOCHS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read -p "batch size (ref 32): " BATCH_SIZE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train.py --epochs "$EPOCHS" --batch-size "$BATCH_SIZE"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5084064"/>
            <a:ext cx="10451592" cy="8138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运行后下载outputs中的指标和图；如需继续预测，保存best.pt。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结束后回控制台关机：关闭浏览器不等于关机。价格以页面当前报价为准。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07608"/>
            <a:ext cx="103327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AutoDL官方快速开始（实例、JupyterLab、Terminal）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12 常见问题：从错误最后一行定位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874519"/>
          <a:ext cx="107899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699516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现象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处理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GPU available: False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开启Kaggle GPU；或确认AutoDL实例和PyTorch环境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No module named ...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在当前课程目录安装requirements.txt，确认使用同一环境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下载超时 / 校验失败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开启Internet重试；或使用教师预下载资源包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CUDA out of memory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减小batch size，如32降到16或8，并记录实际值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输出目录已存在 / best.pt找不到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重跑使用新output；评估checkpoint对应实际训练目录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准确率低于参考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核对样本量、轮数、预训练来源与学习率策略，记录真实结果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4672" y="5971032"/>
            <a:ext cx="104698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47483"/>
                </a:solidFill>
                <a:latin typeface="Noto Sans CJK SC"/>
              </a:defRPr>
            </a:pPr>
            <a:r>
              <a:t>CPU备用：README提供1,000张训练图、1轮的流程检查命令；它不代表正式95%以上的课程效果。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13 下载结果、填写报告并提交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810512"/>
            <a:ext cx="5513832" cy="33284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① 运行Notebook最后的打包单元格。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② 在文件面板下载byteformer_mnist_results.zip。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③ 用Word模板填写自己的环境、命令、指标和解释。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④ 附两组曲线、预测图、错例证据。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默认不用提交数据集、Python环境或大模型。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1856231"/>
            <a:ext cx="45720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建议评分 / 100分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28816" y="245059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5976" y="2496312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环境与数据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96144" y="2496312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28816" y="2916936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65976" y="2962656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基线完成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96144" y="2962656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28816" y="3383280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3429000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曲线与指标解读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3429000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28816" y="3849624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5976" y="3895344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单参数对比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6144" y="3895344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28816" y="4315968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5976" y="4361688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错例分析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6144" y="4361688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28816" y="478231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5976" y="4828032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报告完整性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96144" y="4828032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769864"/>
            <a:ext cx="10451592" cy="52120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BA3F3F"/>
                </a:solidFill>
                <a:latin typeface="Noto Sans CJK SC"/>
              </a:defRPr>
            </a:pPr>
            <a:r>
              <a:t>提交渠道与截止时间由任课教师说明；只填写真实运行结果，验证与测试指标不要混写。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14 课程入口与参考资料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详细点击步骤、完整命令和排错说明，统一放在配套指南与Notebook。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057400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课程仓库：代码、Notebook、数据、PPT、报告模板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Kaggle Notebook 官方文档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136391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AutoDL 官方快速开始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675887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7"/>
              </a:rPr>
              <a:t>ByteFormer 原论文：Bytes Are All You Need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215383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8"/>
              </a:rPr>
              <a:t>Apple CoreNet：ByteFormer代码与预训练权重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754879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9"/>
              </a:rPr>
              <a:t>MNIST：CVDF镜像与原作者说明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ByteFormer 微调 MNIST：零基础实验课</dc:title>
  <dc:subject>Kaggle / AutoDL · 真实预训练微调 · 学生操作指南</dc:subject>
  <dc:creator>Franklin-L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