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沿用教师样例的校园、校徽与白蓝风格，不沿用旧老师邮箱、截止日期或其他旧课程信息。本课PPT压缩为15页；逐格操作细节见course_kaggle.ipynb和README。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先展示最终任务，再介绍学习路线：准备环境和资源、训练、评估/预测、单参数练习、提交。评分见第14页。不会要求学生从零编写神经网络。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ByteFormer处理JPEG文件字节，不是ViT像素patch。MNIST灰度图转RGB后保存28x28 quality100 JPEG。模型167个主干张量严格匹配官方权重；教学移植修复padding/shift mask，见THIRD_PARTY_NOTICES.md。微调前新分类头未学习MNIST，不代表原ImageNet模型的原任务准确率。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证集用于选模型，测试集只作最终评估，不能用测试分数反复调参。种子42排列官方60000训练部分，前50000训练、后10000验证候选，再取验证池前1000；种子43排列官方10000测试部分。正式默认测试全部10000。首次实测先测1000再用相同锁定模型独立全测10000，原始两份报告分别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平台网页步骤依据官方文档整理；本课程尚未登录Kaggle或AutoDL实际账号执行。所有展示的准确率、时间来自本地记录的RTX4090实验。无需在学生个人电脑安装CUDA。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载原始ipynb文件，不要将GitHub网页另存为ipynb。GPU检查在独立子进程中运行，避免安装NumPy依赖前污染内核。运行一格后等它完成，再继续下一格。工作目录必须可写：/kaggle/working/byteformer-mnist-course，而不是只读/kaggle/input。界面名称变化时参考官方Notebook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实际使用绝对目标路径并检测已有目录，重复运行不会删除结果。默认Kaggle工作目录为/kaggle/working。requirements只安装轻量依赖、限制NumPy&lt;2，不重装平台PyTorch/CUDA。数据4个MD5、权重SHA256已实测；资源缺失可重新运行prepare。网络受限可使用教师含数据和权重的课堂资源包，仍需已有PyTorch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正式默认epochs8/train50000/val1000/test10000/batch32/lr1e-4/milestones4,6/gamma0.2/seed42。原正式实测训练末先测试1000，之后独立全10000；发布默认把最终测试整合成10000，共用同一score代码。输出目录已有best.pt时会报错保护结果；重跑换output且对应修改后续checkpoint。模型从官方权重全参数微调，AdamW weight_decay0.01，分类头10倍学习率。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来自examples/course_baseline与course_full_test。完整10000测试97.07%(9707/10000)，由验证97.30%选择第5轮模型，8轮计划预先确定。曲线蓝色训练、橙色验证。loss通常希望下降，accuracy通常希望上升；训练与验证差距反映泛化。完整测试不用于选最佳轮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测图为测试顺序前12张加最多4个实际错例，不能用图中正确比例当整体准确率。index是原始测试索引，和随机排列后的行号不同；Notebook已自动映射。概率是模型softmax分数，不等于已校准可信度。自制图片可用--image assets/example_digit.png，黑底白字、单个居中数字。评估不改训练metrics.json。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学生实际操作，不提供虚构10轮教师参考成绩。使用验证结果作比较，测试成绩只作最终记录。epochs10会从官方预训练权重重新初始化，不是在baseline/best.pt上续训。Notebook首次保留EPOCHS=8并提示学生修改。若显存不足改batch，两组保持一致并在报告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按AutoDL控制台选择空闲GPU、计费方式和PyTorch镜像，无需多卡。GPU检查命令python -c "import torch; print(torch.cuda.is_available())"。GitHub慢可用仓库ZIP上传解压进入正确目录。下载打包详细命令见README。关机与数据保留按当前官方规则，不承诺永久保存。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不要为一个warning盲目重装CUDA。出现cuDNN plan fallback但程序继续且loss有限可记录；Traceback且进程停止时看最后一行。CPU小样本路线已实测通过，但不是完整作业。所有操作均不需要修改其他同学的环境或删除公共数据。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Word模板路径docs/学生实验报告模板.docx。ZIP只含json/csv/png/npz小文件，不含best.pt；若后续想预测请另存模型。Kaggle ZIP在/kaggle/working根目录，AutoDL打包命令见README。评分重操作和解释，不按准确率排名替代教学目标。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所有链接为可点击链接。PPT共15页，对齐教师样例的信息密度；课堂主讲只需本PPT，学生逐步实操使用Notebook。未进行真实Kaggle或AutoDL登录执行，所有性能结果注明本地实测。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kaggle.com/code" TargetMode="External"/><Relationship Id="rId5" Type="http://schemas.openxmlformats.org/officeDocument/2006/relationships/hyperlink" Target="https://www.autodl.com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Relationship Id="rId4" Type="http://schemas.openxmlformats.org/officeDocument/2006/relationships/hyperlink" Target="https://www.autodl.com/docs/quick_sta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github.com/Franklin-L/byteformer-mnist-course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www.autodl.com/docs/quick_start/" TargetMode="External"/><Relationship Id="rId7" Type="http://schemas.openxmlformats.org/officeDocument/2006/relationships/hyperlink" Target="https://arxiv.org/abs/2306.00238" TargetMode="External"/><Relationship Id="rId8" Type="http://schemas.openxmlformats.org/officeDocument/2006/relationships/hyperlink" Target="https://github.com/apple/corenet/tree/main/projects/byteformer" TargetMode="External"/><Relationship Id="rId9" Type="http://schemas.openxmlformats.org/officeDocument/2006/relationships/hyperlink" Target="https://github.com/cvdfoundation/mni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770632"/>
            <a:ext cx="886968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76BA0"/>
                </a:solidFill>
                <a:latin typeface="Noto Sans CJK SC"/>
              </a:defRPr>
            </a:pPr>
            <a:r>
              <a:t>ByteFormer 微调 MNIST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8608" y="3913632"/>
            <a:ext cx="8686800" cy="685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0">
                <a:solidFill>
                  <a:srgbClr val="243547"/>
                </a:solidFill>
                <a:latin typeface="Noto Sans CJK SC"/>
              </a:defRPr>
            </a:pPr>
            <a:r>
              <a:t>零基础图像分类实验课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87752" y="4846320"/>
            <a:ext cx="87782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647483"/>
                </a:solidFill>
                <a:latin typeface="Noto Sans CJK SC"/>
              </a:defRPr>
            </a:pPr>
            <a:r>
              <a:t>按步骤运行 · 查看真实结果 · 亲手修改一个参数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5879592"/>
            <a:ext cx="91440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https://github.com/Franklin-L/byteformer-mnist-course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任务要求与完成路线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0195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82880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完成一次真实微调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19456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加载官方预训练ByteFormer，识别MNIST手写数字0—9；教师正式测试97.07%。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13639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06324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亲手完成三个操作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42900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运行基线 → 把训练轮数8改为10 → 查看并解释一个错例。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37083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29768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交付自己的实验记录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66344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保留指标、曲线、错例和Word报告，不能用教师结果代替自己的运行。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实验原理：文件字节输入 + 预训练微调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手写数字图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2615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0088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JPEG 文件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0328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93792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61504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25512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5752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29216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93224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3264408"/>
            <a:ext cx="10652760" cy="2148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① 加载Apple官方ImageNet JPEG预训练ByteFormer Tiny。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② 保留完整12层主干，把原1000类分类头换成10类。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③ 使用MNIST继续训练全部参数，输出数字0—9的分类结果。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5550408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学生只需运行脚本；图像转JPEG、字节读取、模型加载均已封装。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MNIST 数据与训练 / 验证 / 测试划分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10" name="Picture 9" descr="mnist_dig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911095"/>
            <a:ext cx="4617720" cy="18470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288536"/>
            <a:ext cx="438912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28×28灰度图；10个数字类别。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原始文件已随GitHub仓库提供。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9552" y="1874519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1965960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训练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50,000张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139696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更新模型参数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9552" y="2953511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3044951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验证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1,000张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218687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每轮检查，选择best.pt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59552" y="4032504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4123944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测试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10,000张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模型确定后最终评估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596128"/>
            <a:ext cx="1065276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官方60,000张训练图先分为50,000训练池+10,000验证池；本课固定取1,000验证图，余9,000张未使用。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平台与配套材料：优先 Kaggle，备用 AutoDL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免费额度、可用GPU与租用价格，以平台当前页面为准。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114800"/>
                <a:gridCol w="429768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路线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学生要准备什么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使用方式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账号、可用GPU额度、Internet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导入课程Notebook，逐格运行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AutoDL备用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按当前报价租1张GPU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本地CPU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已有Python/PyTorch环境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小样本流程检查，不替代正式实验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68096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Kaggle：创建Notebook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AutoDL：实例与价格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605272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配套：course_kaggle.ipynb逐步操作 ｜ README完整命令 ｜ Word实验报告模板。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Kaggle 准备：导入、GPU、网络，一次设好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5486400" cy="3611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1. 从GitHub下载course_kaggle.ipynb。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2. 新建Notebook，File → Import Notebook。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3. 在设置中选择GPU Accelerator。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4. 打开Internet，按提示完成账号验证。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5. 从上到下逐格运行，先完成环境检查。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938528"/>
            <a:ext cx="4572000" cy="1892807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2167128"/>
            <a:ext cx="4114800" cy="1325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成功标志</a:t>
            </a:r>
          </a:p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GPU available: True</a:t>
            </a:r>
          </a:p>
          <a:p>
            <a:pPr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随后运行“获取课程”单元格。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4023360"/>
            <a:ext cx="4251960" cy="167335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命令规则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Kaggle单元格：!python …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切换目录：%cd …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AutoDL终端：python 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70448"/>
            <a:ext cx="1051560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首次不要直接Run All：练习单元格需要亲手把EPOCHS从8改为10。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Kaggle笔记本已写好这些命令，按顺序运行即可。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148840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276856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4251960"/>
            <a:ext cx="106070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看到[READY]即准备完成：MNIST约11.6MB随仓库提供；官方权重约64MB自动下载并校验。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230368"/>
            <a:ext cx="1060704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prepare.py：准备资源　train.py：微调　evaluate.py：评估　predict.py：预测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data/：数据　checkpoints/：预训练权重　outputs/：你自己的实验结果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正式训练：看懂参数，运行一条命令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856231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947672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训练样本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947672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50,000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487168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578608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验证 / 测试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578608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1,000 / 10,000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118103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209544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209544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749039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3840479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840479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379975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471415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471415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1911095"/>
            <a:ext cx="5230368" cy="960120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79" y="2039112"/>
            <a:ext cx="4901183" cy="70408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2200" b="0">
                <a:solidFill>
                  <a:srgbClr val="FFFFFF"/>
                </a:solidFill>
                <a:latin typeface="DejaVu Sans Mono"/>
              </a:defRPr>
            </a:pPr>
            <a:r>
              <a:t>!python train.py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255264"/>
            <a:ext cx="4919472" cy="20299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出现[TRAIN]和每轮[EPOCH]，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最后看到[DONE]。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输出保存到outputs/baseline/。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训练中不要关闭运行会话。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596128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后期学习率自动衰减：第4、6轮结束后乘0.2。学生无需修改底层训练代码。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正式实测结果：先用验证选模型，再做测试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最佳验证准确率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97.30%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完整测试准确率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59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97.07%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1801368"/>
            <a:ext cx="3566160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1901952"/>
            <a:ext cx="3328416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最佳模型 / 计划轮数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221992"/>
            <a:ext cx="332841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500" b="1">
                <a:solidFill>
                  <a:srgbClr val="176BA0"/>
                </a:solidFill>
                <a:latin typeface="Noto Sans CJK SC"/>
              </a:defRPr>
            </a:pPr>
            <a:r>
              <a:t>第5轮 / 8轮</a:t>
            </a:r>
          </a:p>
        </p:txBody>
      </p:sp>
      <p:pic>
        <p:nvPicPr>
          <p:cNvPr id="19" name="Picture 18" descr="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9599" y="2926080"/>
            <a:ext cx="7858897" cy="29077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本机RTX4090：8轮约11.88分钟，不含安装下载及末尾出图。云平台耗时以实际运行为准。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评估、单图预测与错例检查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828800"/>
            <a:ext cx="10744200" cy="1197864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956816"/>
            <a:ext cx="10415016" cy="9418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evaluate.py --checkpoint outputs/baseline/best.pt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outputs/baseline/best.pt --index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374136"/>
            <a:ext cx="5513832" cy="19751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评估：读取best.pt，保存evaluation.json。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预测：显示真实标签与预测，生成单图结果。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实操：换一个0—9999的测试索引。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错例：Notebook自动给出错误样本索引。</a:t>
            </a:r>
          </a:p>
        </p:txBody>
      </p:sp>
      <p:pic>
        <p:nvPicPr>
          <p:cNvPr id="13" name="Picture 12" descr="example_di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3246120"/>
            <a:ext cx="2084831" cy="208483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0" y="5440680"/>
            <a:ext cx="4206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705856"/>
            <a:ext cx="59436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Notebook另提供完整预测图和混淆矩阵，供查找与分析错例。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学生实操：只把训练轮数 8 改为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1856231"/>
            <a:ext cx="10707624" cy="116128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1984248"/>
            <a:ext cx="1037844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FFFFFF"/>
                </a:solidFill>
                <a:latin typeface="DejaVu Sans Mono"/>
              </a:defRPr>
            </a:pPr>
            <a:r>
              <a:t>EPOCHS = 10  # 亲手把原来的 8 改为 10</a:t>
            </a:r>
          </a:p>
          <a:p>
            <a:pPr>
              <a:spcAft>
                <a:spcPts val="300"/>
              </a:spcAft>
              <a:defRPr sz="18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{EPOCHS} --output outputs/epochs10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355848"/>
            <a:ext cx="5257800" cy="23225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保持样本数、随机种子、batch和学习率策略不变。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两次都从同一官方预训练权重开始。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保留baseline，另存epochs10。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37376" y="3401568"/>
            <a:ext cx="4718304" cy="226771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602736"/>
            <a:ext cx="4315968" cy="186537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用自己的结果回答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验证准确率是否提高？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训练损失怎样变化？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增加轮数的收益与代价？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· 为什么还需要验证集？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24728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不预设10轮一定更好。教师已验证8轮正式基线；10轮是学生亲手运行并填写的练习。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AutoDL 备用路线：开机 → 运行 → 下载 → 关机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792224"/>
            <a:ext cx="1065276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租用1张GPU并选择PyTorch镜像 → 打开JupyterLab → Terminal；以下命令前不加 !。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660904"/>
            <a:ext cx="10707624" cy="2139696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10378440" cy="1883663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python train.py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5084064"/>
            <a:ext cx="10451592" cy="8138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运行后下载outputs中的指标和图；如需继续预测，保存best.pt。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结束后回控制台关机：关闭浏览器不等于关机。价格以页面当前报价为准。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007608"/>
            <a:ext cx="10332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AutoDL官方快速开始（实例、JupyterLab、Terminal）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常见问题：从错误最后一行定位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1874519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699516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现象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处理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GPU available: False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开启Kaggle GPU；或确认AutoDL实例和PyTorch环境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 module named ...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在当前课程目录安装requirements.txt，确认使用同一环境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下载超时 / 校验失败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开启Internet重试；或使用教师预下载资源包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CUDA out of memory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batch-size改16或8，两组对比保持一致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输出目录已存在 / best.pt找不到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重跑使用新output；评估checkpoint对应实际训练目录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准确率低于参考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核对样本量、轮数、预训练来源与学习率策略，记录真实结果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04672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CPU备用：README提供1,000张训练图、1轮的流程检查命令；它不代表正式95%以上的课程效果。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下载结果、填写报告并提交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10512"/>
            <a:ext cx="5513832" cy="33284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① 运行Notebook最后的打包单元格。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② 在文件面板下载byteformer_mnist_results.zip。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③ 用Word模板填写自己的环境、命令、指标和解释。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④ 附两组曲线、预测图、错例证据。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默认不用提交数据集、Python环境或大模型。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建议评分 / 100分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5976" y="2496312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环境与数据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96144" y="2496312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5976" y="2962656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基线完成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96144" y="2962656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5976" y="3429000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曲线与指标解读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96144" y="3429000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5976" y="3895344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单参数对比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96144" y="3895344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5976" y="4361688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错例分析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96144" y="4361688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4828032"/>
            <a:ext cx="358444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报告完整性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96144" y="4828032"/>
            <a:ext cx="65836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6BA0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提交渠道与截止时间由任课教师说明；只填写真实运行结果，验证与测试指标不要混写。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ByteFormer · MNIST 实验课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课程入口与参考资料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详细点击步骤、完整命令和排错说明，统一放在配套指南与Notebook。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6419088"/>
            <a:ext cx="9144000" cy="228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000" b="0">
                <a:solidFill>
                  <a:srgbClr val="647483"/>
                </a:solidFill>
                <a:latin typeface="Noto Sans CJK SC"/>
              </a:defRPr>
            </a:pPr>
            <a:r>
              <a:t>Kaggle 免费 GPU 优先 · AutoDL 备用 · 记录自己的实验结果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057400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课程仓库：代码、Notebook、数据、PPT、报告模板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596896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 Notebook 官方文档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136391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AutoDL 官方快速开始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ByteFormer 原论文：Bytes Are All You Need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215383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Apple CoreNet：ByteFormer代码与预训练权重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754879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9"/>
              </a:rPr>
              <a:t>MNIST：CVDF镜像与原作者说明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733288"/>
            <a:ext cx="10479024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647483"/>
                </a:solidFill>
                <a:latin typeface="Noto Sans CJK SC"/>
              </a:defRPr>
            </a:pPr>
            <a:r>
              <a:t>校园、校徽来自教师样例并保留原权利；代码、数据与模型归属见仓库说明。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ByteFormer 微调 MNIST：零基础实验课</dc:title>
  <dc:subject>Kaggle / AutoDL · 真实预训练微调 · 学生操作指南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