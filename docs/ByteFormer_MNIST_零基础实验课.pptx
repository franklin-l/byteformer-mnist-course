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zhuanlan.zhihu.com/p/18209757723" TargetMode="External"/><Relationship Id="rId4" Type="http://schemas.openxmlformats.org/officeDocument/2006/relationships/hyperlink" Target="https://blog.csdn.net/yyyyyybw/article/details/148336854" TargetMode="External"/><Relationship Id="rId5" Type="http://schemas.openxmlformats.org/officeDocument/2006/relationships/hyperlink" Target="https://www.kaggle.com/docs/notebooks" TargetMode="External"/><Relationship Id="rId6" Type="http://schemas.openxmlformats.org/officeDocument/2006/relationships/hyperlink" Target="https://www.autodl.com/docs/quick_start/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www.autodl.com/docs/quick_start/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doi.org/10.1016/j.patcog.2026.114151" TargetMode="External"/><Relationship Id="rId4" Type="http://schemas.openxmlformats.org/officeDocument/2006/relationships/hyperlink" Target="https://arxiv.org/abs/2608.15695" TargetMode="External"/><Relationship Id="rId5" Type="http://schemas.openxmlformats.org/officeDocument/2006/relationships/hyperlink" Target="https://arxiv.org/abs/2309.13890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github.com/Franklin-L/byteformer-mnist-course" TargetMode="External"/><Relationship Id="rId4" Type="http://schemas.openxmlformats.org/officeDocument/2006/relationships/hyperlink" Target="https://arxiv.org/abs/2306.00238" TargetMode="External"/><Relationship Id="rId5" Type="http://schemas.openxmlformats.org/officeDocument/2006/relationships/hyperlink" Target="https://arxiv.org/abs/2305.07185" TargetMode="External"/><Relationship Id="rId6" Type="http://schemas.openxmlformats.org/officeDocument/2006/relationships/hyperlink" Target="https://arxiv.org/abs/2401.13660" TargetMode="External"/><Relationship Id="rId7" Type="http://schemas.openxmlformats.org/officeDocument/2006/relationships/hyperlink" Target="https://arxiv.org/abs/2402.19155" TargetMode="External"/><Relationship Id="rId8" Type="http://schemas.openxmlformats.org/officeDocument/2006/relationships/hyperlink" Target="https://arxiv.org/abs/2502.14553" TargetMode="External"/><Relationship Id="rId9" Type="http://schemas.openxmlformats.org/officeDocument/2006/relationships/hyperlink" Target="https://www.kaggle.com/docs/notebooks" TargetMode="External"/><Relationship Id="rId10" Type="http://schemas.openxmlformats.org/officeDocument/2006/relationships/hyperlink" Target="https://www.autodl.com/docs/quick_start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amp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719" y="0"/>
            <a:ext cx="8380256" cy="2286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313432"/>
            <a:ext cx="12191695" cy="50292"/>
          </a:xfrm>
          <a:prstGeom prst="rect">
            <a:avLst/>
          </a:prstGeom>
          <a:solidFill>
            <a:srgbClr val="176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hust_s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122670"/>
            <a:ext cx="1645920" cy="12527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0" y="2953512"/>
            <a:ext cx="9144000" cy="1033271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400" b="1">
                <a:solidFill>
                  <a:srgbClr val="176BA0"/>
                </a:solidFill>
                <a:latin typeface="Noto Sans CJK SC"/>
              </a:defRPr>
            </a:pPr>
            <a:r>
              <a:t>字节域语义内容理解实验说明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87752" y="4279392"/>
            <a:ext cx="425196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400" b="1">
                <a:solidFill>
                  <a:srgbClr val="000000"/>
                </a:solidFill>
                <a:latin typeface="Noto Sans CJK SC"/>
              </a:defRPr>
            </a:pPr>
            <a:r>
              <a:t>助教：李方成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4279392"/>
            <a:ext cx="425196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400" b="1">
                <a:solidFill>
                  <a:srgbClr val="000000"/>
                </a:solidFill>
                <a:latin typeface="Noto Sans CJK SC"/>
              </a:defRPr>
            </a:pPr>
            <a:r>
              <a:t>教师：吴科君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87752" y="4992624"/>
            <a:ext cx="425196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000000"/>
                </a:solidFill>
                <a:latin typeface="Noto Sans CJK SC"/>
              </a:defRPr>
            </a:pPr>
            <a:r>
              <a:t>lifangcheng2002@163.com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4992624"/>
            <a:ext cx="425196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000000"/>
                </a:solidFill>
                <a:latin typeface="Noto Sans CJK SC"/>
              </a:defRPr>
            </a:pPr>
            <a:r>
              <a:t>kjwu@hust.edu.cn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19456"/>
            <a:ext cx="42976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字节域语义内容理解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01 多媒体通信与码流损坏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1517904"/>
            <a:ext cx="1097280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图像和视频经过压缩编码后，以二进制码流的形式传输或存储。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938528"/>
            <a:ext cx="1874519" cy="786384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" y="2103120"/>
            <a:ext cx="174650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800" b="1">
                <a:solidFill>
                  <a:srgbClr val="176BA0"/>
                </a:solidFill>
                <a:latin typeface="Noto Sans CJK SC"/>
              </a:defRPr>
            </a:pPr>
            <a:r>
              <a:t>图像 / 视频</a:t>
            </a:r>
          </a:p>
          <a:p>
            <a:pPr algn="ctr">
              <a:spcAft>
                <a:spcPts val="600"/>
              </a:spcAft>
              <a:defRPr sz="1800" b="1">
                <a:solidFill>
                  <a:srgbClr val="176BA0"/>
                </a:solidFill>
                <a:latin typeface="Noto Sans CJK SC"/>
              </a:defRPr>
            </a:pPr>
            <a:r>
              <a:t>信源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2148840"/>
            <a:ext cx="283464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80360" y="1938528"/>
            <a:ext cx="1874519" cy="786384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44368" y="2103120"/>
            <a:ext cx="174650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800" b="1">
                <a:solidFill>
                  <a:srgbClr val="176BA0"/>
                </a:solidFill>
                <a:latin typeface="Noto Sans CJK SC"/>
              </a:defRPr>
            </a:pPr>
            <a:r>
              <a:t>压缩编码</a:t>
            </a:r>
          </a:p>
          <a:p>
            <a:pPr algn="ctr">
              <a:spcAft>
                <a:spcPts val="600"/>
              </a:spcAft>
              <a:defRPr sz="1800" b="1">
                <a:solidFill>
                  <a:srgbClr val="176BA0"/>
                </a:solidFill>
                <a:latin typeface="Noto Sans CJK SC"/>
              </a:defRPr>
            </a:pPr>
            <a:r>
              <a:t>JPEG / H.264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2148840"/>
            <a:ext cx="283464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02352" y="1938528"/>
            <a:ext cx="1874519" cy="786384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66360" y="2103120"/>
            <a:ext cx="174650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800" b="1">
                <a:solidFill>
                  <a:srgbClr val="176BA0"/>
                </a:solidFill>
                <a:latin typeface="Noto Sans CJK SC"/>
              </a:defRPr>
            </a:pPr>
            <a:r>
              <a:t>信道或</a:t>
            </a:r>
          </a:p>
          <a:p>
            <a:pPr algn="ctr">
              <a:spcAft>
                <a:spcPts val="600"/>
              </a:spcAft>
              <a:defRPr sz="1800" b="1">
                <a:solidFill>
                  <a:srgbClr val="176BA0"/>
                </a:solidFill>
                <a:latin typeface="Noto Sans CJK SC"/>
              </a:defRPr>
            </a:pPr>
            <a:r>
              <a:t>存储介质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04304" y="2148840"/>
            <a:ext cx="283464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24344" y="1938528"/>
            <a:ext cx="1874519" cy="786384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88352" y="2103120"/>
            <a:ext cx="174650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800" b="1">
                <a:solidFill>
                  <a:srgbClr val="176BA0"/>
                </a:solidFill>
                <a:latin typeface="Noto Sans CJK SC"/>
              </a:defRPr>
            </a:pPr>
            <a:r>
              <a:t>解码与</a:t>
            </a:r>
          </a:p>
          <a:p>
            <a:pPr algn="ctr">
              <a:spcAft>
                <a:spcPts val="600"/>
              </a:spcAft>
              <a:defRPr sz="1800" b="1">
                <a:solidFill>
                  <a:srgbClr val="176BA0"/>
                </a:solidFill>
                <a:latin typeface="Noto Sans CJK SC"/>
              </a:defRPr>
            </a:pPr>
            <a:r>
              <a:t>视觉分析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6296" y="2148840"/>
            <a:ext cx="283464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46336" y="1938528"/>
            <a:ext cx="1874519" cy="786384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10344" y="2103120"/>
            <a:ext cx="174650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800" b="1">
                <a:solidFill>
                  <a:srgbClr val="176BA0"/>
                </a:solidFill>
                <a:latin typeface="Noto Sans CJK SC"/>
              </a:defRPr>
            </a:pPr>
            <a:r>
              <a:t>分类 / 检测</a:t>
            </a:r>
          </a:p>
          <a:p>
            <a:pPr algn="ctr">
              <a:spcAft>
                <a:spcPts val="600"/>
              </a:spcAft>
              <a:defRPr sz="1800" b="1">
                <a:solidFill>
                  <a:srgbClr val="176BA0"/>
                </a:solidFill>
                <a:latin typeface="Noto Sans CJK SC"/>
              </a:defRPr>
            </a:pPr>
            <a:r>
              <a:t>内容理解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054096"/>
            <a:ext cx="493776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1">
                <a:solidFill>
                  <a:srgbClr val="243547"/>
                </a:solidFill>
                <a:latin typeface="Noto Sans CJK SC"/>
              </a:defRPr>
            </a:pPr>
            <a:r>
              <a:t>Gilbert–Elliott 二状态模型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" y="3730752"/>
            <a:ext cx="1426464" cy="786384"/>
          </a:xfrm>
          <a:prstGeom prst="roundRect">
            <a:avLst/>
          </a:prstGeom>
          <a:solidFill>
            <a:srgbClr val="DDEE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3877056"/>
            <a:ext cx="1243584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100" b="1">
                <a:solidFill>
                  <a:srgbClr val="31734F"/>
                </a:solidFill>
                <a:latin typeface="Noto Sans CJK SC"/>
              </a:defRPr>
            </a:pPr>
            <a:r>
              <a:t>G｜良好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21608" y="3730752"/>
            <a:ext cx="1426464" cy="786384"/>
          </a:xfrm>
          <a:prstGeom prst="roundRect">
            <a:avLst/>
          </a:prstGeom>
          <a:solidFill>
            <a:srgbClr val="F5D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13048" y="3877056"/>
            <a:ext cx="1243584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100" b="1">
                <a:solidFill>
                  <a:srgbClr val="BA3F3F"/>
                </a:solidFill>
                <a:latin typeface="Noto Sans CJK SC"/>
              </a:defRPr>
            </a:pPr>
            <a:r>
              <a:t>B｜不良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14016" y="3657600"/>
            <a:ext cx="1261872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600" b="0">
                <a:solidFill>
                  <a:srgbClr val="647483"/>
                </a:solidFill>
                <a:latin typeface="Noto Sans CJK SC"/>
              </a:defRPr>
            </a:pPr>
            <a:r>
              <a:t>p：进入不良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14016" y="4288536"/>
            <a:ext cx="1261872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600" b="0">
                <a:solidFill>
                  <a:srgbClr val="647483"/>
                </a:solidFill>
                <a:latin typeface="Noto Sans CJK SC"/>
              </a:defRPr>
            </a:pPr>
            <a:r>
              <a:t>r：恢复良好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86000" y="3913632"/>
            <a:ext cx="157276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400" b="1">
                <a:solidFill>
                  <a:srgbClr val="BA3F3F"/>
                </a:solidFill>
                <a:latin typeface="Noto Sans CJK SC"/>
              </a:defRPr>
            </a:pPr>
            <a:r>
              <a:t>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86000" y="4197096"/>
            <a:ext cx="157276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400" b="1">
                <a:solidFill>
                  <a:srgbClr val="31734F"/>
                </a:solidFill>
                <a:latin typeface="Noto Sans CJK SC"/>
              </a:defRPr>
            </a:pPr>
            <a:r>
              <a:t>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" y="4846320"/>
            <a:ext cx="4572000" cy="8412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G状态错误率低；B状态错误率高。</a:t>
            </a:r>
          </a:p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r较小时，错误容易连续出现，形成突发损坏。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80760" y="3063240"/>
            <a:ext cx="507492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1">
                <a:solidFill>
                  <a:srgbClr val="243547"/>
                </a:solidFill>
                <a:latin typeface="Noto Sans CJK SC"/>
              </a:defRPr>
            </a:pPr>
            <a:r>
              <a:t>常见的码流损坏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062472" y="3694176"/>
            <a:ext cx="2386584" cy="1069848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36208" y="3831336"/>
            <a:ext cx="2039112" cy="3474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100" b="1">
                <a:solidFill>
                  <a:srgbClr val="176BA0"/>
                </a:solidFill>
                <a:latin typeface="Noto Sans CJK SC"/>
              </a:defRPr>
            </a:pPr>
            <a:r>
              <a:t>Bit flip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08776" y="4224528"/>
            <a:ext cx="2093976" cy="33832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600" b="0">
                <a:solidFill>
                  <a:srgbClr val="647483"/>
                </a:solidFill>
                <a:latin typeface="Noto Sans CJK SC"/>
              </a:defRPr>
            </a:pPr>
            <a:r>
              <a:t>0 ↔ 1，长度不变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805672" y="3694176"/>
            <a:ext cx="2386584" cy="1069848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79408" y="3831336"/>
            <a:ext cx="2039112" cy="3474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100" b="1">
                <a:solidFill>
                  <a:srgbClr val="176BA0"/>
                </a:solidFill>
                <a:latin typeface="Noto Sans CJK SC"/>
              </a:defRPr>
            </a:pPr>
            <a:r>
              <a:t>Byte loss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51976" y="4224528"/>
            <a:ext cx="2093976" cy="33832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600" b="0">
                <a:solidFill>
                  <a:srgbClr val="647483"/>
                </a:solidFill>
                <a:latin typeface="Noto Sans CJK SC"/>
              </a:defRPr>
            </a:pPr>
            <a:r>
              <a:t>字节丢失，位置移动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44768" y="5038344"/>
            <a:ext cx="4946904" cy="6583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647483"/>
                </a:solidFill>
                <a:latin typeface="Noto Sans CJK SC"/>
              </a:defRPr>
            </a:pPr>
            <a:r>
              <a:t>课程使用离散时间表达，p、r表示状态转移概率；</a:t>
            </a:r>
          </a:p>
          <a:p>
            <a:pPr>
              <a:spcAft>
                <a:spcPts val="600"/>
              </a:spcAft>
              <a:defRPr sz="1600" b="0">
                <a:solidFill>
                  <a:srgbClr val="647483"/>
                </a:solidFill>
                <a:latin typeface="Noto Sans CJK SC"/>
              </a:defRPr>
            </a:pPr>
            <a:r>
              <a:t>连续时间模型中相应参数写作转移率。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19456"/>
            <a:ext cx="42976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字节域语义内容理解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02 图像与视频码流结构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709928"/>
            <a:ext cx="50749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300" b="1">
                <a:solidFill>
                  <a:srgbClr val="176BA0"/>
                </a:solidFill>
                <a:latin typeface="Noto Sans CJK SC"/>
              </a:defRPr>
            </a:pPr>
            <a:r>
              <a:t>JPEG 图像码流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2276856"/>
            <a:ext cx="603504" cy="758952"/>
          </a:xfrm>
          <a:prstGeom prst="roundRect">
            <a:avLst/>
          </a:prstGeom>
          <a:solidFill>
            <a:srgbClr val="D9E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386584"/>
            <a:ext cx="548640" cy="25603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500" b="1">
                <a:solidFill>
                  <a:srgbClr val="243547"/>
                </a:solidFill>
                <a:latin typeface="Noto Sans CJK SC"/>
              </a:defRPr>
            </a:pPr>
            <a:r>
              <a:t>SOI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60904"/>
            <a:ext cx="54864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开始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26464" y="2276856"/>
            <a:ext cx="914400" cy="758952"/>
          </a:xfrm>
          <a:prstGeom prst="roundRect">
            <a:avLst/>
          </a:prstGeom>
          <a:solidFill>
            <a:srgbClr val="F4E5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53896" y="2386584"/>
            <a:ext cx="859536" cy="25603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500" b="1">
                <a:solidFill>
                  <a:srgbClr val="243547"/>
                </a:solidFill>
                <a:latin typeface="Noto Sans CJK SC"/>
              </a:defRPr>
            </a:pPr>
            <a:r>
              <a:t>DQT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53896" y="2660904"/>
            <a:ext cx="859536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量化表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14016" y="2276856"/>
            <a:ext cx="731520" cy="758952"/>
          </a:xfrm>
          <a:prstGeom prst="roundRect">
            <a:avLst/>
          </a:prstGeom>
          <a:solidFill>
            <a:srgbClr val="D9E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41448" y="2386584"/>
            <a:ext cx="676656" cy="25603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500" b="1">
                <a:solidFill>
                  <a:srgbClr val="243547"/>
                </a:solidFill>
                <a:latin typeface="Noto Sans CJK SC"/>
              </a:defRPr>
            </a:pPr>
            <a:r>
              <a:t>SOF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41448" y="2660904"/>
            <a:ext cx="676656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尺寸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18688" y="2276856"/>
            <a:ext cx="731520" cy="758952"/>
          </a:xfrm>
          <a:prstGeom prst="roundRect">
            <a:avLst/>
          </a:prstGeom>
          <a:solidFill>
            <a:srgbClr val="F4E5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46120" y="2386584"/>
            <a:ext cx="676656" cy="25603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500" b="1">
                <a:solidFill>
                  <a:srgbClr val="243547"/>
                </a:solidFill>
                <a:latin typeface="Noto Sans CJK SC"/>
              </a:defRPr>
            </a:pPr>
            <a:r>
              <a:t>DHT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46120" y="2660904"/>
            <a:ext cx="676656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码表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23360" y="2276856"/>
            <a:ext cx="731520" cy="758952"/>
          </a:xfrm>
          <a:prstGeom prst="roundRect">
            <a:avLst/>
          </a:prstGeom>
          <a:solidFill>
            <a:srgbClr val="D9E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50792" y="2386584"/>
            <a:ext cx="676656" cy="25603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500" b="1">
                <a:solidFill>
                  <a:srgbClr val="243547"/>
                </a:solidFill>
                <a:latin typeface="Noto Sans CJK SC"/>
              </a:defRPr>
            </a:pPr>
            <a:r>
              <a:t>SOS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50792" y="2660904"/>
            <a:ext cx="676656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扫描头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28032" y="2276856"/>
            <a:ext cx="1143000" cy="758952"/>
          </a:xfrm>
          <a:prstGeom prst="roundRect">
            <a:avLst/>
          </a:prstGeom>
          <a:solidFill>
            <a:srgbClr val="F4E5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55464" y="2386584"/>
            <a:ext cx="1088136" cy="25603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500" b="1">
                <a:solidFill>
                  <a:srgbClr val="243547"/>
                </a:solidFill>
                <a:latin typeface="Noto Sans CJK SC"/>
              </a:defRPr>
            </a:pPr>
            <a:r>
              <a:t>Scan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55464" y="2660904"/>
            <a:ext cx="1088136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图像数据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44184" y="2276856"/>
            <a:ext cx="603504" cy="758952"/>
          </a:xfrm>
          <a:prstGeom prst="roundRect">
            <a:avLst/>
          </a:prstGeom>
          <a:solidFill>
            <a:srgbClr val="D9E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71616" y="2386584"/>
            <a:ext cx="548640" cy="25603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500" b="1">
                <a:solidFill>
                  <a:srgbClr val="243547"/>
                </a:solidFill>
                <a:latin typeface="Noto Sans CJK SC"/>
              </a:defRPr>
            </a:pPr>
            <a:r>
              <a:t>EOI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71616" y="2660904"/>
            <a:ext cx="54864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结束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" y="3310128"/>
            <a:ext cx="4983480" cy="13350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文件标记、尺寸、量化表或Huffman表受损，可能直接导致解码失败；扫描数据受损会出现错块、花屏和错误传播。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90488" y="1709928"/>
            <a:ext cx="50749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300" b="1">
                <a:solidFill>
                  <a:srgbClr val="176BA0"/>
                </a:solidFill>
                <a:latin typeface="Noto Sans CJK SC"/>
              </a:defRPr>
            </a:pPr>
            <a:r>
              <a:t>H.264 视频码流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99632" y="2276856"/>
            <a:ext cx="1143000" cy="758952"/>
          </a:xfrm>
          <a:prstGeom prst="roundRect">
            <a:avLst/>
          </a:prstGeom>
          <a:solidFill>
            <a:srgbClr val="E3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36208" y="2386584"/>
            <a:ext cx="1069848" cy="25603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400" b="1">
                <a:solidFill>
                  <a:srgbClr val="243547"/>
                </a:solidFill>
                <a:latin typeface="Noto Sans CJK SC"/>
              </a:defRPr>
            </a:pPr>
            <a:r>
              <a:t>Start code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36208" y="2660904"/>
            <a:ext cx="1069848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定位NAL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98079" y="2276856"/>
            <a:ext cx="1143000" cy="758952"/>
          </a:xfrm>
          <a:prstGeom prst="roundRect">
            <a:avLst/>
          </a:prstGeom>
          <a:solidFill>
            <a:srgbClr val="E3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34655" y="2386584"/>
            <a:ext cx="1069848" cy="25603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400" b="1">
                <a:solidFill>
                  <a:srgbClr val="243547"/>
                </a:solidFill>
                <a:latin typeface="Noto Sans CJK SC"/>
              </a:defRPr>
            </a:pPr>
            <a:r>
              <a:t>SPS / PPS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34655" y="2660904"/>
            <a:ext cx="1069848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解码参数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796528" y="2276856"/>
            <a:ext cx="1143000" cy="758952"/>
          </a:xfrm>
          <a:prstGeom prst="roundRect">
            <a:avLst/>
          </a:prstGeom>
          <a:solidFill>
            <a:srgbClr val="E8E2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2386584"/>
            <a:ext cx="1069848" cy="25603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400" b="1">
                <a:solidFill>
                  <a:srgbClr val="243547"/>
                </a:solidFill>
                <a:latin typeface="Noto Sans CJK SC"/>
              </a:defRPr>
            </a:pPr>
            <a:r>
              <a:t>IDR / 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33104" y="2660904"/>
            <a:ext cx="1069848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关键帧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094976" y="2276856"/>
            <a:ext cx="1143000" cy="758952"/>
          </a:xfrm>
          <a:prstGeom prst="roundRect">
            <a:avLst/>
          </a:prstGeom>
          <a:solidFill>
            <a:srgbClr val="E8E2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131551" y="2386584"/>
            <a:ext cx="1069848" cy="25603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400" b="1">
                <a:solidFill>
                  <a:srgbClr val="243547"/>
                </a:solidFill>
                <a:latin typeface="Noto Sans CJK SC"/>
              </a:defRPr>
            </a:pPr>
            <a:r>
              <a:t>P / B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31551" y="2660904"/>
            <a:ext cx="1069848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预测帧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27064" y="3310128"/>
            <a:ext cx="4965192" cy="13350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SPS/PPS或关键帧受损会影响后续多帧；P、B帧依赖参考帧，错误可沿时间方向继续传播。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68096" y="5047488"/>
            <a:ext cx="10479024" cy="658368"/>
          </a:xfrm>
          <a:prstGeom prst="roundRect">
            <a:avLst/>
          </a:prstGeom>
          <a:solidFill>
            <a:srgbClr val="F5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50976" y="5230368"/>
            <a:ext cx="10113264" cy="3474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100" b="1">
                <a:solidFill>
                  <a:srgbClr val="BA3F3F"/>
                </a:solidFill>
                <a:latin typeface="Noto Sans CJK SC"/>
              </a:defRPr>
            </a:pPr>
            <a:r>
              <a:t>码流结构受损 → 无法正确解码 → 像素域模型得不到可靠输入 → 直接从字节中理解内容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19456"/>
            <a:ext cx="42976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字节域语义内容理解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03 代表性字节模型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1517904"/>
            <a:ext cx="1097280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字节模型直接读取0—255字节值，重点解决超长序列和多尺度结构建模。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029968"/>
            <a:ext cx="2084831" cy="295351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2221992"/>
            <a:ext cx="1883664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MEGABYTE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633472"/>
            <a:ext cx="1883664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500" b="0">
                <a:solidFill>
                  <a:srgbClr val="647483"/>
                </a:solidFill>
                <a:latin typeface="Noto Sans CJK SC"/>
              </a:defRPr>
            </a:pPr>
            <a:r>
              <a:t>2023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3154680"/>
            <a:ext cx="1828800" cy="8503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600" b="0">
                <a:solidFill>
                  <a:srgbClr val="243547"/>
                </a:solidFill>
                <a:latin typeface="Noto Sans CJK SC"/>
              </a:defRPr>
            </a:pPr>
            <a:r>
              <a:t>全局模型处理字节块</a:t>
            </a:r>
          </a:p>
          <a:p>
            <a:pPr algn="ctr">
              <a:spcAft>
                <a:spcPts val="600"/>
              </a:spcAft>
              <a:defRPr sz="1600" b="0">
                <a:solidFill>
                  <a:srgbClr val="243547"/>
                </a:solidFill>
                <a:latin typeface="Noto Sans CJK SC"/>
              </a:defRPr>
            </a:pPr>
            <a:r>
              <a:t>局部模型预测块内字节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4325112"/>
            <a:ext cx="1828800" cy="4114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论文公开；社区实现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07791" y="2029968"/>
            <a:ext cx="2084831" cy="295351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08375" y="2221992"/>
            <a:ext cx="1883664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ByteFormer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08375" y="2633472"/>
            <a:ext cx="1883664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500" b="0">
                <a:solidFill>
                  <a:srgbClr val="647483"/>
                </a:solidFill>
                <a:latin typeface="Noto Sans CJK SC"/>
              </a:defRPr>
            </a:pPr>
            <a:r>
              <a:t>2023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35808" y="3154680"/>
            <a:ext cx="1828800" cy="8503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600" b="0">
                <a:solidFill>
                  <a:srgbClr val="243547"/>
                </a:solidFill>
                <a:latin typeface="Noto Sans CJK SC"/>
              </a:defRPr>
            </a:pPr>
            <a:r>
              <a:t>卷积缩短序列</a:t>
            </a:r>
          </a:p>
          <a:p>
            <a:pPr algn="ctr">
              <a:spcAft>
                <a:spcPts val="600"/>
              </a:spcAft>
              <a:defRPr sz="1600" b="0">
                <a:solidFill>
                  <a:srgbClr val="243547"/>
                </a:solidFill>
                <a:latin typeface="Noto Sans CJK SC"/>
              </a:defRPr>
            </a:pPr>
            <a:r>
              <a:t>窗口Transformer分类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35808" y="4325112"/>
            <a:ext cx="1828800" cy="4114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官方代码与预训练权重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21224" y="2029968"/>
            <a:ext cx="2084831" cy="295351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21808" y="2221992"/>
            <a:ext cx="1883664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MambaByte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21808" y="2633472"/>
            <a:ext cx="1883664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500" b="0">
                <a:solidFill>
                  <a:srgbClr val="647483"/>
                </a:solidFill>
                <a:latin typeface="Noto Sans CJK SC"/>
              </a:defRPr>
            </a:pPr>
            <a:r>
              <a:t>2024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49240" y="3154680"/>
            <a:ext cx="1828800" cy="8503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600" b="0">
                <a:solidFill>
                  <a:srgbClr val="243547"/>
                </a:solidFill>
                <a:latin typeface="Noto Sans CJK SC"/>
              </a:defRPr>
            </a:pPr>
            <a:r>
              <a:t>选择性状态空间模型</a:t>
            </a:r>
          </a:p>
          <a:p>
            <a:pPr algn="ctr">
              <a:spcAft>
                <a:spcPts val="600"/>
              </a:spcAft>
              <a:defRPr sz="1600" b="0">
                <a:solidFill>
                  <a:srgbClr val="243547"/>
                </a:solidFill>
                <a:latin typeface="Noto Sans CJK SC"/>
              </a:defRPr>
            </a:pPr>
            <a:r>
              <a:t>近似线性处理长序列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49240" y="4325112"/>
            <a:ext cx="1828800" cy="4114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官方代码与权重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34656" y="2029968"/>
            <a:ext cx="2084831" cy="295351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35240" y="2221992"/>
            <a:ext cx="1883664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bGPT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2633472"/>
            <a:ext cx="1883664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500" b="0">
                <a:solidFill>
                  <a:srgbClr val="647483"/>
                </a:solidFill>
                <a:latin typeface="Noto Sans CJK SC"/>
              </a:defRPr>
            </a:pPr>
            <a:r>
              <a:t>2024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62672" y="3154680"/>
            <a:ext cx="1828800" cy="8503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600" b="0">
                <a:solidFill>
                  <a:srgbClr val="243547"/>
                </a:solidFill>
                <a:latin typeface="Noto Sans CJK SC"/>
              </a:defRPr>
            </a:pPr>
            <a:r>
              <a:t>Patch-level + Byte-level</a:t>
            </a:r>
          </a:p>
          <a:p>
            <a:pPr algn="ctr">
              <a:spcAft>
                <a:spcPts val="600"/>
              </a:spcAft>
              <a:defRPr sz="1600" b="0">
                <a:solidFill>
                  <a:srgbClr val="243547"/>
                </a:solidFill>
                <a:latin typeface="Noto Sans CJK SC"/>
              </a:defRPr>
            </a:pPr>
            <a:r>
              <a:t>多模态字节生成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62672" y="4325112"/>
            <a:ext cx="1828800" cy="4114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官方代码与多模态权重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848088" y="2029968"/>
            <a:ext cx="2084831" cy="295351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48672" y="2221992"/>
            <a:ext cx="1883664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mBLM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48672" y="2633472"/>
            <a:ext cx="1883664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500" b="0">
                <a:solidFill>
                  <a:srgbClr val="647483"/>
                </a:solidFill>
                <a:latin typeface="Noto Sans CJK SC"/>
              </a:defRPr>
            </a:pPr>
            <a:r>
              <a:t>2025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76104" y="3154680"/>
            <a:ext cx="1828800" cy="8503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600" b="0">
                <a:solidFill>
                  <a:srgbClr val="243547"/>
                </a:solidFill>
                <a:latin typeface="Noto Sans CJK SC"/>
              </a:defRPr>
            </a:pPr>
            <a:r>
              <a:t>多层级Byte Patch</a:t>
            </a:r>
          </a:p>
          <a:p>
            <a:pPr algn="ctr">
              <a:spcAft>
                <a:spcPts val="600"/>
              </a:spcAft>
              <a:defRPr sz="1600" b="0">
                <a:solidFill>
                  <a:srgbClr val="243547"/>
                </a:solidFill>
                <a:latin typeface="Noto Sans CJK SC"/>
              </a:defRPr>
            </a:pPr>
            <a:r>
              <a:t>Transformer / Mamba可选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76104" y="4325112"/>
            <a:ext cx="1828800" cy="4114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官方代码与Python包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58952" y="5349240"/>
            <a:ext cx="10689336" cy="576072"/>
          </a:xfrm>
          <a:prstGeom prst="roundRect">
            <a:avLst/>
          </a:prstGeom>
          <a:solidFill>
            <a:srgbClr val="DDEB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3544" y="5504688"/>
            <a:ext cx="10369296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课程选择ByteFormer：直接支持文件分类，有公开代码和预训练权重，适合完成MNIST微调。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19456"/>
            <a:ext cx="42976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字节域语义内容理解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04 ByteFormer框架与课程任务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5</a:t>
            </a:r>
          </a:p>
        </p:txBody>
      </p:sp>
      <p:pic>
        <p:nvPicPr>
          <p:cNvPr id="7" name="Picture 6" descr="byteformer_model_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9012" y="1755647"/>
            <a:ext cx="3566160" cy="35661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715000" y="1975104"/>
            <a:ext cx="1170432" cy="98755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0" y="2112264"/>
            <a:ext cx="1078992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600" b="1">
                <a:solidFill>
                  <a:srgbClr val="176BA0"/>
                </a:solidFill>
                <a:latin typeface="Noto Sans CJK SC"/>
              </a:defRPr>
            </a:pPr>
            <a:r>
              <a:t>MNIST图像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0" y="2487168"/>
            <a:ext cx="1078992" cy="25603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JPEG编码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94576" y="2276856"/>
            <a:ext cx="201168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800" b="1">
                <a:solidFill>
                  <a:srgbClr val="176BA0"/>
                </a:solidFill>
                <a:latin typeface="Noto Sans CJK SC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14032" y="1975104"/>
            <a:ext cx="1170432" cy="98755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59752" y="2112264"/>
            <a:ext cx="1078992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600" b="1">
                <a:solidFill>
                  <a:srgbClr val="176BA0"/>
                </a:solidFill>
                <a:latin typeface="Noto Sans CJK SC"/>
              </a:defRPr>
            </a:pPr>
            <a:r>
              <a:t>字节序列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59752" y="2487168"/>
            <a:ext cx="1078992" cy="25603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0—255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93608" y="2276856"/>
            <a:ext cx="201168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800" b="1">
                <a:solidFill>
                  <a:srgbClr val="176BA0"/>
                </a:solidFill>
                <a:latin typeface="Noto Sans CJK SC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13064" y="1975104"/>
            <a:ext cx="1170432" cy="98755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58784" y="2112264"/>
            <a:ext cx="1078992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600" b="1">
                <a:solidFill>
                  <a:srgbClr val="176BA0"/>
                </a:solidFill>
                <a:latin typeface="Noto Sans CJK SC"/>
              </a:defRPr>
            </a:pPr>
            <a:r>
              <a:t>ByteFormer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58784" y="2487168"/>
            <a:ext cx="1078992" cy="25603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预训练主干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2276856"/>
            <a:ext cx="201168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800" b="1">
                <a:solidFill>
                  <a:srgbClr val="176BA0"/>
                </a:solidFill>
                <a:latin typeface="Noto Sans CJK SC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912096" y="1975104"/>
            <a:ext cx="1170432" cy="98755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57816" y="2112264"/>
            <a:ext cx="1078992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600" b="1">
                <a:solidFill>
                  <a:srgbClr val="176BA0"/>
                </a:solidFill>
                <a:latin typeface="Noto Sans CJK SC"/>
              </a:defRPr>
            </a:pPr>
            <a:r>
              <a:t>分类结果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57816" y="2487168"/>
            <a:ext cx="1078992" cy="25603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数字0—9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69864" y="3328416"/>
            <a:ext cx="5166360" cy="17190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· 使用公开的ByteFormer Tiny预训练权重</a:t>
            </a:r>
          </a:p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· 将分类头改为10个类别</a:t>
            </a:r>
          </a:p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· 在训练集更新参数，用验证集选择模型</a:t>
            </a:r>
          </a:p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· 最后在独立测试集上报告结果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9808" y="5596128"/>
            <a:ext cx="10643616" cy="530352"/>
          </a:xfrm>
          <a:prstGeom prst="roundRect">
            <a:avLst/>
          </a:prstGeom>
          <a:solidFill>
            <a:srgbClr val="DDEB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" y="5733288"/>
            <a:ext cx="10277856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基础任务：完成码流图像分类、参数对比和结果分析。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19456"/>
            <a:ext cx="42976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字节域语义内容理解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05 课程数据集与三类划分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1517904"/>
            <a:ext cx="1097280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课程仓库已经提供固定划分，所有同学使用相同样本。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6</a:t>
            </a:r>
          </a:p>
        </p:txBody>
      </p:sp>
      <p:pic>
        <p:nvPicPr>
          <p:cNvPr id="8" name="Picture 7" descr="mnist_digi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2825496"/>
            <a:ext cx="4572000" cy="18288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504688" y="1993392"/>
            <a:ext cx="1728216" cy="290779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05272" y="2203704"/>
            <a:ext cx="1527048" cy="3474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200" b="1">
                <a:solidFill>
                  <a:srgbClr val="176BA0"/>
                </a:solidFill>
                <a:latin typeface="Noto Sans CJK SC"/>
              </a:defRPr>
            </a:pPr>
            <a:r>
              <a:t>训练集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05272" y="2761488"/>
            <a:ext cx="1527048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700" b="1">
                <a:solidFill>
                  <a:srgbClr val="243547"/>
                </a:solidFill>
                <a:latin typeface="Noto Sans CJK SC"/>
              </a:defRPr>
            </a:pPr>
            <a:r>
              <a:t>5,000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23559" y="3465576"/>
            <a:ext cx="1490472" cy="9144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500" b="0">
                <a:solidFill>
                  <a:srgbClr val="647483"/>
                </a:solidFill>
                <a:latin typeface="Noto Sans CJK SC"/>
              </a:defRPr>
            </a:pPr>
            <a:r>
              <a:t>每类500张</a:t>
            </a:r>
          </a:p>
          <a:p>
            <a:pPr algn="ctr">
              <a:spcAft>
                <a:spcPts val="600"/>
              </a:spcAft>
              <a:defRPr sz="1500" b="0">
                <a:solidFill>
                  <a:srgbClr val="647483"/>
                </a:solidFill>
                <a:latin typeface="Noto Sans CJK SC"/>
              </a:defRPr>
            </a:pPr>
            <a:r>
              <a:t>包含原图与轻微旋转、平移视图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52359" y="1993392"/>
            <a:ext cx="1728216" cy="290779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52943" y="2203704"/>
            <a:ext cx="1527048" cy="3474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200" b="1">
                <a:solidFill>
                  <a:srgbClr val="176BA0"/>
                </a:solidFill>
                <a:latin typeface="Noto Sans CJK SC"/>
              </a:defRPr>
            </a:pPr>
            <a:r>
              <a:t>验证集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52943" y="2761488"/>
            <a:ext cx="1527048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700" b="1">
                <a:solidFill>
                  <a:srgbClr val="243547"/>
                </a:solidFill>
                <a:latin typeface="Noto Sans CJK SC"/>
              </a:defRPr>
            </a:pPr>
            <a:r>
              <a:t>1,000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71231" y="3465576"/>
            <a:ext cx="1490472" cy="9144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500" b="0">
                <a:solidFill>
                  <a:srgbClr val="647483"/>
                </a:solidFill>
                <a:latin typeface="Noto Sans CJK SC"/>
              </a:defRPr>
            </a:pPr>
            <a:r>
              <a:t>每类100张</a:t>
            </a:r>
          </a:p>
          <a:p>
            <a:pPr algn="ctr">
              <a:spcAft>
                <a:spcPts val="600"/>
              </a:spcAft>
              <a:defRPr sz="1500" b="0">
                <a:solidFill>
                  <a:srgbClr val="647483"/>
                </a:solidFill>
                <a:latin typeface="Noto Sans CJK SC"/>
              </a:defRPr>
            </a:pPr>
            <a:r>
              <a:t>用于选择最佳模型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400032" y="1993392"/>
            <a:ext cx="1728216" cy="290779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00615" y="2203704"/>
            <a:ext cx="1527048" cy="3474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200" b="1">
                <a:solidFill>
                  <a:srgbClr val="176BA0"/>
                </a:solidFill>
                <a:latin typeface="Noto Sans CJK SC"/>
              </a:defRPr>
            </a:pPr>
            <a:r>
              <a:t>测试集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0615" y="2761488"/>
            <a:ext cx="1527048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700" b="1">
                <a:solidFill>
                  <a:srgbClr val="243547"/>
                </a:solidFill>
                <a:latin typeface="Noto Sans CJK SC"/>
              </a:defRPr>
            </a:pPr>
            <a:r>
              <a:t>1,000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18904" y="3465576"/>
            <a:ext cx="1490472" cy="9144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500" b="0">
                <a:solidFill>
                  <a:srgbClr val="647483"/>
                </a:solidFill>
                <a:latin typeface="Noto Sans CJK SC"/>
              </a:defRPr>
            </a:pPr>
            <a:r>
              <a:t>每类100张</a:t>
            </a:r>
          </a:p>
          <a:p>
            <a:pPr algn="ctr">
              <a:spcAft>
                <a:spcPts val="600"/>
              </a:spcAft>
              <a:defRPr sz="1500" b="0">
                <a:solidFill>
                  <a:srgbClr val="647483"/>
                </a:solidFill>
                <a:latin typeface="Noto Sans CJK SC"/>
              </a:defRPr>
            </a:pPr>
            <a:r>
              <a:t>训练结束后独立评估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14416" y="5266944"/>
            <a:ext cx="5596128" cy="55778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647483"/>
                </a:solidFill>
                <a:latin typeface="Noto Sans CJK SC"/>
              </a:defRPr>
            </a:pPr>
            <a:r>
              <a:t>数据文件：data/course_1of10/　测试集不参与训练和模型选择。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19456"/>
            <a:ext cx="42976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字节域语义内容理解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06 实验环境与在线平台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1517904"/>
            <a:ext cx="1097280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平台界面、免费额度和租用价格可能调整，以平台当前页面为准。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2148840"/>
          <a:ext cx="107899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280"/>
                <a:gridCol w="4663440"/>
                <a:gridCol w="3886200"/>
              </a:tblGrid>
              <a:tr h="548640"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Noto Sans CJK SC"/>
                        </a:defRPr>
                      </a:pPr>
                      <a:r>
                        <a:t>运行平台</a:t>
                      </a:r>
                    </a:p>
                  </a:txBody>
                  <a:tcPr marL="118872" marT="91440">
                    <a:solidFill>
                      <a:srgbClr val="176B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Noto Sans CJK SC"/>
                        </a:defRPr>
                      </a:pPr>
                      <a:r>
                        <a:t>适用情况</a:t>
                      </a:r>
                    </a:p>
                  </a:txBody>
                  <a:tcPr marL="118872" marT="91440">
                    <a:solidFill>
                      <a:srgbClr val="176B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Noto Sans CJK SC"/>
                        </a:defRPr>
                      </a:pPr>
                      <a:r>
                        <a:t>入口</a:t>
                      </a:r>
                    </a:p>
                  </a:txBody>
                  <a:tcPr marL="118872" marT="91440">
                    <a:solidFill>
                      <a:srgbClr val="176BA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Kaggle免费GPU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推荐；导入课程Notebook后运行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Notebook + Internet + GPU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AutoDL租用GPU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Kaggle额度不足时使用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选择PyTorch镜像，打开Terminal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本地环境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用于查看代码或小规模检查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Python、PyTorch环境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95528" y="4956048"/>
            <a:ext cx="516636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3"/>
              </a:rPr>
              <a:t>知乎｜Kaggle GPU资源使用教程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81928" y="4956048"/>
            <a:ext cx="516636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4"/>
              </a:rPr>
              <a:t>CSDN｜Kaggle平台使用指导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5486400"/>
            <a:ext cx="516636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5"/>
              </a:rPr>
              <a:t>Kaggle官方Notebook文档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1928" y="5486400"/>
            <a:ext cx="516636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6"/>
              </a:rPr>
              <a:t>AutoDL官方快速开始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19456"/>
            <a:ext cx="42976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字节域语义内容理解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07 获取代码、数据与预训练权重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1517904"/>
            <a:ext cx="1097280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课程Notebook中已经写好相同命令。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048256"/>
            <a:ext cx="10725912" cy="1755648"/>
          </a:xfrm>
          <a:prstGeom prst="roundRect">
            <a:avLst/>
          </a:prstGeom>
          <a:solidFill>
            <a:srgbClr val="203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176272"/>
            <a:ext cx="10396728" cy="149961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!git clone https://github.com/Franklin-L/byteformer-mnist-course.git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%cd /kaggle/working/byteformer-mnist-course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!python -m pip install -r requirements.txt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!python prepare.py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4105656"/>
            <a:ext cx="1060704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看到[READY]即准备完成；课程数据集随仓库提供，ByteFormer预训练权重自动下载并校验。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4855464"/>
            <a:ext cx="10607040" cy="1042415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647483"/>
                </a:solidFill>
                <a:latin typeface="Noto Sans CJK SC"/>
              </a:defRPr>
            </a:pPr>
            <a:r>
              <a:t>train_course_subset.py：训练　evaluate_course_corruption.py：测试</a:t>
            </a:r>
          </a:p>
          <a:p>
            <a:pPr>
              <a:spcAft>
                <a:spcPts val="600"/>
              </a:spcAft>
              <a:defRPr sz="1800" b="0">
                <a:solidFill>
                  <a:srgbClr val="647483"/>
                </a:solidFill>
                <a:latin typeface="Noto Sans CJK SC"/>
              </a:defRPr>
            </a:pPr>
            <a:r>
              <a:t>predict.py：单图预测　data/course_1of10/：固定数据　outputs/：实验结果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19456"/>
            <a:ext cx="42976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字节域语义内容理解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08 模型训练与参数设置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837943"/>
            <a:ext cx="5056632" cy="539496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929384"/>
            <a:ext cx="2048256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176BA0"/>
                </a:solidFill>
                <a:latin typeface="Noto Sans CJK SC"/>
              </a:defRPr>
            </a:pPr>
            <a:r>
              <a:t>训练 / 验证 / 测试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53512" y="1929384"/>
            <a:ext cx="269748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5,000 / 1,000 / 1,000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468879"/>
            <a:ext cx="5056632" cy="539496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2560320"/>
            <a:ext cx="2048256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176BA0"/>
                </a:solidFill>
                <a:latin typeface="Noto Sans CJK SC"/>
              </a:defRPr>
            </a:pPr>
            <a:r>
              <a:t>训练轮数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53512" y="2560320"/>
            <a:ext cx="269748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根据验证结果自行设置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099815"/>
            <a:ext cx="5056632" cy="539496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3191256"/>
            <a:ext cx="2048256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176BA0"/>
                </a:solidFill>
                <a:latin typeface="Noto Sans CJK SC"/>
              </a:defRPr>
            </a:pPr>
            <a:r>
              <a:t>batch size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53512" y="3191256"/>
            <a:ext cx="269748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自行设置，参考32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3730752"/>
            <a:ext cx="5056632" cy="539496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3822191"/>
            <a:ext cx="2048256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176BA0"/>
                </a:solidFill>
                <a:latin typeface="Noto Sans CJK SC"/>
              </a:defRPr>
            </a:pPr>
            <a:r>
              <a:t>学习率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53512" y="3822191"/>
            <a:ext cx="269748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主干1e-4；分类头10倍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4361688"/>
            <a:ext cx="5056632" cy="539496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4453127"/>
            <a:ext cx="2048256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176BA0"/>
                </a:solidFill>
                <a:latin typeface="Noto Sans CJK SC"/>
              </a:defRPr>
            </a:pPr>
            <a:r>
              <a:t>输入增强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53512" y="4453127"/>
            <a:ext cx="269748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轻微旋转与水平平移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99048" y="1874519"/>
            <a:ext cx="5321808" cy="1993392"/>
          </a:xfrm>
          <a:prstGeom prst="roundRect">
            <a:avLst/>
          </a:prstGeom>
          <a:solidFill>
            <a:srgbClr val="203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63640" y="2002536"/>
            <a:ext cx="4992624" cy="17373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30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EPOCHS = int(input("epochs: "))</a:t>
            </a:r>
          </a:p>
          <a:p>
            <a:pPr>
              <a:spcAft>
                <a:spcPts val="30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BATCH_SIZE = int(input("batch: "))</a:t>
            </a:r>
          </a:p>
          <a:p>
            <a:pPr>
              <a:spcAft>
                <a:spcPts val="30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!python train_course_subset.py \</a:t>
            </a:r>
          </a:p>
          <a:p>
            <a:pPr>
              <a:spcAft>
                <a:spcPts val="30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  --method clean --epochs {EPOCHS} \</a:t>
            </a:r>
          </a:p>
          <a:p>
            <a:pPr>
              <a:spcAft>
                <a:spcPts val="30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  --batch-size {BATCH_SIZE} --clean-augmentations \</a:t>
            </a:r>
          </a:p>
          <a:p>
            <a:pPr>
              <a:spcAft>
                <a:spcPts val="30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  --output outputs/course_clean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36208" y="4197096"/>
            <a:ext cx="4965192" cy="10789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训练过程中观察验证集准确率；</a:t>
            </a:r>
          </a:p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结果保存在outputs/course_clean/。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614416"/>
            <a:ext cx="1046988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轮数与batch size没有固定答案，请在报告中写明自己的设置。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19456"/>
            <a:ext cx="42976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字节域语义内容理解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09 训练结果分析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10512"/>
            <a:ext cx="10698480" cy="1143000"/>
          </a:xfrm>
          <a:prstGeom prst="roundRect">
            <a:avLst/>
          </a:prstGeom>
          <a:solidFill>
            <a:srgbClr val="203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38528"/>
            <a:ext cx="10369296" cy="8869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300"/>
              </a:spcAft>
              <a:defRPr sz="1900" b="0">
                <a:solidFill>
                  <a:srgbClr val="FFFFFF"/>
                </a:solidFill>
                <a:latin typeface="DejaVu Sans Mono"/>
              </a:defRPr>
            </a:pPr>
            <a:r>
              <a:t>from IPython.display import display, Image</a:t>
            </a:r>
          </a:p>
          <a:p>
            <a:pPr>
              <a:spcAft>
                <a:spcPts val="300"/>
              </a:spcAft>
              <a:defRPr sz="1900" b="0">
                <a:solidFill>
                  <a:srgbClr val="FFFFFF"/>
                </a:solidFill>
                <a:latin typeface="DejaVu Sans Mono"/>
              </a:defRPr>
            </a:pPr>
            <a:r>
              <a:t>display(Image("outputs/course_clean/curves.png"))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" y="3346704"/>
            <a:ext cx="3547872" cy="173736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29584"/>
            <a:ext cx="3218688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1">
                <a:solidFill>
                  <a:srgbClr val="176BA0"/>
                </a:solidFill>
                <a:latin typeface="Noto Sans CJK SC"/>
              </a:defRPr>
            </a:pPr>
            <a:r>
              <a:t>训练损失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42232"/>
            <a:ext cx="3218688" cy="8046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是否总体下降？</a:t>
            </a:r>
          </a:p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是否出现明显波动？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3346704"/>
            <a:ext cx="3547872" cy="173736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27448" y="3529584"/>
            <a:ext cx="3218688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1">
                <a:solidFill>
                  <a:srgbClr val="176BA0"/>
                </a:solidFill>
                <a:latin typeface="Noto Sans CJK SC"/>
              </a:defRPr>
            </a:pPr>
            <a:r>
              <a:t>验证结果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4142232"/>
            <a:ext cx="3218688" cy="8046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准确率怎样变化？</a:t>
            </a:r>
          </a:p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最佳结果出现在哪一轮？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85048" y="3346704"/>
            <a:ext cx="3547872" cy="173736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40496" y="3529584"/>
            <a:ext cx="3218688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1">
                <a:solidFill>
                  <a:srgbClr val="176BA0"/>
                </a:solidFill>
                <a:latin typeface="Noto Sans CJK SC"/>
              </a:defRPr>
            </a:pPr>
            <a:r>
              <a:t>测试结果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0496" y="4142232"/>
            <a:ext cx="3218688" cy="8046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加载验证集选出的模型，</a:t>
            </a:r>
          </a:p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在独立测试集上评估。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" y="5513832"/>
            <a:ext cx="10424160" cy="55778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647483"/>
                </a:solidFill>
                <a:latin typeface="Noto Sans CJK SC"/>
              </a:defRPr>
            </a:pPr>
            <a:r>
              <a:t>history.csv保存每轮结果；metrics.json保存最佳轮次、参数和运行时间。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19456"/>
            <a:ext cx="42976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字节域语义内容理解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10 测试、单图预测与错例检查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92224"/>
            <a:ext cx="10744200" cy="1481328"/>
          </a:xfrm>
          <a:prstGeom prst="roundRect">
            <a:avLst/>
          </a:prstGeom>
          <a:solidFill>
            <a:srgbClr val="203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20240"/>
            <a:ext cx="10415016" cy="12252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30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t>!python evaluate_course_corruption.py \</a:t>
            </a:r>
          </a:p>
          <a:p>
            <a:pPr>
              <a:spcAft>
                <a:spcPts val="30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t>  --checkpoint outputs/course_clean/best.pt --output outputs/course_clean_eval</a:t>
            </a:r>
          </a:p>
          <a:p>
            <a:pPr>
              <a:spcAft>
                <a:spcPts val="30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t>!python predict.py --checkpoint outputs/course_clean/best.pt --index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3575304"/>
            <a:ext cx="5687568" cy="17647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Clean：基础任务的独立测试结果。</a:t>
            </a:r>
          </a:p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Medium-Flip / Loss / Mixed：加分项使用。</a:t>
            </a:r>
          </a:p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将--index改成其他测试索引，可查看预测概率。</a:t>
            </a:r>
          </a:p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结合预测图和错误索引分析典型错例。</a:t>
            </a:r>
          </a:p>
        </p:txBody>
      </p:sp>
      <p:pic>
        <p:nvPicPr>
          <p:cNvPr id="10" name="Picture 9" descr="example_dig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0708" y="3429000"/>
            <a:ext cx="1993392" cy="19933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967728" y="5513832"/>
            <a:ext cx="3995928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900" b="1">
                <a:solidFill>
                  <a:srgbClr val="176BA0"/>
                </a:solidFill>
                <a:latin typeface="Noto Sans CJK SC"/>
              </a:defRPr>
            </a:pPr>
            <a:r>
              <a:t>真实标签7 ｜ 模型预测7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19456"/>
            <a:ext cx="42976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字节域语义内容理解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11 参数对比实验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0664" y="1828800"/>
            <a:ext cx="10707624" cy="1947672"/>
          </a:xfrm>
          <a:prstGeom prst="roundRect">
            <a:avLst/>
          </a:prstGeom>
          <a:solidFill>
            <a:srgbClr val="203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956816"/>
            <a:ext cx="10378440" cy="1691639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30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COMPARISON_EPOCHS = int(input("epochs: "))</a:t>
            </a:r>
          </a:p>
          <a:p>
            <a:pPr>
              <a:spcAft>
                <a:spcPts val="30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COMPARISON_BATCH_SIZE = int(input("batch: "))</a:t>
            </a:r>
          </a:p>
          <a:p>
            <a:pPr>
              <a:spcAft>
                <a:spcPts val="30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!python train_course_subset.py --method clean \</a:t>
            </a:r>
          </a:p>
          <a:p>
            <a:pPr>
              <a:spcAft>
                <a:spcPts val="30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--epochs {COMPARISON_EPOCHS} --batch-size {COMPARISON_BATCH_SIZE} \</a:t>
            </a:r>
          </a:p>
          <a:p>
            <a:pPr>
              <a:spcAft>
                <a:spcPts val="30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--clean-augmentations --output outputs/comparison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3977639"/>
            <a:ext cx="5257800" cy="14904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轮数和batch size均可自行设置。</a:t>
            </a:r>
          </a:p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建议一次只改变一个参数，其他条件保持一致。</a:t>
            </a:r>
          </a:p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保留第一次结果，另存outputs/comparison。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19088" y="3941063"/>
            <a:ext cx="4736592" cy="1572768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0256" y="4087368"/>
            <a:ext cx="4334256" cy="12618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比较内容</a:t>
            </a:r>
          </a:p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· 验证集准确率与训练时间</a:t>
            </a:r>
          </a:p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· 损失曲线和收敛速度</a:t>
            </a:r>
          </a:p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· 参数变化带来的收益与代价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760720"/>
            <a:ext cx="1037844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647483"/>
                </a:solidFill>
                <a:latin typeface="Noto Sans CJK SC"/>
              </a:defRPr>
            </a:pPr>
            <a:r>
              <a:t>报告中列出两次设置及结果，并说明比较结论。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19456"/>
            <a:ext cx="42976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字节域语义内容理解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12 AutoDL运行与常见问题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73936"/>
            <a:ext cx="5605272" cy="3246120"/>
          </a:xfrm>
          <a:prstGeom prst="roundRect">
            <a:avLst/>
          </a:prstGeom>
          <a:solidFill>
            <a:srgbClr val="203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01952"/>
            <a:ext cx="5276088" cy="2990087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FFFFFF"/>
                </a:solidFill>
                <a:latin typeface="DejaVu Sans Mono"/>
              </a:defRPr>
            </a:pPr>
            <a:r>
              <a:t>cd /root/autodl-tmp</a:t>
            </a:r>
          </a:p>
          <a:p>
            <a:pPr>
              <a:spcAft>
                <a:spcPts val="300"/>
              </a:spcAft>
              <a:defRPr sz="1200" b="0">
                <a:solidFill>
                  <a:srgbClr val="FFFFFF"/>
                </a:solidFill>
                <a:latin typeface="DejaVu Sans Mono"/>
              </a:defRPr>
            </a:pPr>
            <a:r>
              <a:t>git clone https://github.com/Franklin-L/byteformer-mnist-course.git</a:t>
            </a:r>
          </a:p>
          <a:p>
            <a:pPr>
              <a:spcAft>
                <a:spcPts val="300"/>
              </a:spcAft>
              <a:defRPr sz="1200" b="0">
                <a:solidFill>
                  <a:srgbClr val="FFFFFF"/>
                </a:solidFill>
                <a:latin typeface="DejaVu Sans Mono"/>
              </a:defRPr>
            </a:pPr>
            <a:r>
              <a:t>cd byteformer-mnist-course</a:t>
            </a:r>
          </a:p>
          <a:p>
            <a:pPr>
              <a:spcAft>
                <a:spcPts val="300"/>
              </a:spcAft>
              <a:defRPr sz="1200" b="0">
                <a:solidFill>
                  <a:srgbClr val="FFFFFF"/>
                </a:solidFill>
                <a:latin typeface="DejaVu Sans Mono"/>
              </a:defRPr>
            </a:pPr>
            <a:r>
              <a:t>python -m pip install -r requirements.txt</a:t>
            </a:r>
          </a:p>
          <a:p>
            <a:pPr>
              <a:spcAft>
                <a:spcPts val="300"/>
              </a:spcAft>
              <a:defRPr sz="1200" b="0">
                <a:solidFill>
                  <a:srgbClr val="FFFFFF"/>
                </a:solidFill>
                <a:latin typeface="DejaVu Sans Mono"/>
              </a:defRPr>
            </a:pPr>
            <a:r>
              <a:t>python prepare.py</a:t>
            </a:r>
          </a:p>
          <a:p>
            <a:pPr>
              <a:spcAft>
                <a:spcPts val="300"/>
              </a:spcAft>
              <a:defRPr sz="1200" b="0">
                <a:solidFill>
                  <a:srgbClr val="FFFFFF"/>
                </a:solidFill>
                <a:latin typeface="DejaVu Sans Mono"/>
              </a:defRPr>
            </a:pPr>
            <a:r>
              <a:t>python train_course_subset.py --method clean \</a:t>
            </a:r>
          </a:p>
          <a:p>
            <a:pPr>
              <a:spcAft>
                <a:spcPts val="300"/>
              </a:spcAft>
              <a:defRPr sz="1200" b="0">
                <a:solidFill>
                  <a:srgbClr val="FFFFFF"/>
                </a:solidFill>
                <a:latin typeface="DejaVu Sans Mono"/>
              </a:defRPr>
            </a:pPr>
            <a:r>
              <a:t>  --epochs "$EPOCHS" --batch-size "$BATCH_SIZE" \</a:t>
            </a:r>
          </a:p>
          <a:p>
            <a:pPr>
              <a:spcAft>
                <a:spcPts val="300"/>
              </a:spcAft>
              <a:defRPr sz="1200" b="0">
                <a:solidFill>
                  <a:srgbClr val="FFFFFF"/>
                </a:solidFill>
                <a:latin typeface="DejaVu Sans Mono"/>
              </a:defRPr>
            </a:pPr>
            <a:r>
              <a:t>  --clean-augmentations --output outputs/course_clean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29400" y="1828800"/>
            <a:ext cx="4572000" cy="6858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93992" y="1929384"/>
            <a:ext cx="1627632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76BA0"/>
                </a:solidFill>
                <a:latin typeface="Noto Sans CJK SC"/>
              </a:defRPr>
            </a:pPr>
            <a:r>
              <a:t>没有使用GPU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5048" y="1929384"/>
            <a:ext cx="2633472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243547"/>
                </a:solidFill>
                <a:latin typeface="Noto Sans CJK SC"/>
              </a:defRPr>
            </a:pPr>
            <a:r>
              <a:t>检查Kaggle加速器或AutoDL实例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29400" y="2660904"/>
            <a:ext cx="4572000" cy="6858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93992" y="2761488"/>
            <a:ext cx="1627632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76BA0"/>
                </a:solidFill>
                <a:latin typeface="Noto Sans CJK SC"/>
              </a:defRPr>
            </a:pPr>
            <a:r>
              <a:t>缺少Python包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5048" y="2761488"/>
            <a:ext cx="2633472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243547"/>
                </a:solidFill>
                <a:latin typeface="Noto Sans CJK SC"/>
              </a:defRPr>
            </a:pPr>
            <a:r>
              <a:t>重新安装requirements.txt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29400" y="3493008"/>
            <a:ext cx="4572000" cy="6858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93992" y="3593592"/>
            <a:ext cx="1627632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76BA0"/>
                </a:solidFill>
                <a:latin typeface="Noto Sans CJK SC"/>
              </a:defRPr>
            </a:pPr>
            <a:r>
              <a:t>显存不足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5048" y="3593592"/>
            <a:ext cx="2633472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243547"/>
                </a:solidFill>
                <a:latin typeface="Noto Sans CJK SC"/>
              </a:defRPr>
            </a:pPr>
            <a:r>
              <a:t>减小batch size并记录实际值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29400" y="4325112"/>
            <a:ext cx="4572000" cy="6858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93992" y="4425696"/>
            <a:ext cx="1627632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76BA0"/>
                </a:solidFill>
                <a:latin typeface="Noto Sans CJK SC"/>
              </a:defRPr>
            </a:pPr>
            <a:r>
              <a:t>输出目录已有文件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5048" y="4425696"/>
            <a:ext cx="2633472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243547"/>
                </a:solidFill>
                <a:latin typeface="Noto Sans CJK SC"/>
              </a:defRPr>
            </a:pPr>
            <a:r>
              <a:t>改用新的output目录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5303520"/>
            <a:ext cx="5532120" cy="72237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运行前在Terminal中设置EPOCHS和BATCH_SIZE；</a:t>
            </a:r>
          </a:p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实验结束后下载outputs并在控制台关机。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11696" y="5486400"/>
            <a:ext cx="43891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3"/>
              </a:rPr>
              <a:t>AutoDL官方快速开始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19456"/>
            <a:ext cx="42976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字节域语义内容理解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13 实验结果与报告提交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1810512"/>
            <a:ext cx="5513832" cy="33924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① 保存训练曲线和测试结果。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② 完成一次参数对比。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③ 展示单图预测或典型错例。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④ 填写实验环境、命令、参数与结果分析。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⑤ 打包代码、结果图和实验报告。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数据集和Python环境不需要重复提交。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56248" y="1856231"/>
            <a:ext cx="4572000" cy="4297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300" b="1">
                <a:solidFill>
                  <a:srgbClr val="176BA0"/>
                </a:solidFill>
                <a:latin typeface="Noto Sans CJK SC"/>
              </a:defRPr>
            </a:pPr>
            <a:r>
              <a:t>基础任务检查</a:t>
            </a:r>
          </a:p>
        </p:txBody>
      </p:sp>
      <p:sp>
        <p:nvSpPr>
          <p:cNvPr id="9" name="Rectangle 8"/>
          <p:cNvSpPr/>
          <p:nvPr/>
        </p:nvSpPr>
        <p:spPr>
          <a:xfrm>
            <a:off x="6528816" y="2450592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65976" y="2496312"/>
            <a:ext cx="43434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完成训练、验证和测试流程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28816" y="2916936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65976" y="2962656"/>
            <a:ext cx="43434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记录实际轮数与batch size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28816" y="3383280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65976" y="3429000"/>
            <a:ext cx="43434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区分验证集结果和测试集结果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28816" y="3849624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65976" y="3895344"/>
            <a:ext cx="43434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说明曲线变化与参数对比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28816" y="4315968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5976" y="4361688"/>
            <a:ext cx="43434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给出预测结果与错例分析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28816" y="4782312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65976" y="4828032"/>
            <a:ext cx="43434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提交个人实验报告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769864"/>
            <a:ext cx="10451592" cy="521207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BA3F3F"/>
                </a:solidFill>
                <a:latin typeface="Noto Sans CJK SC"/>
              </a:defRPr>
            </a:pPr>
            <a:r>
              <a:t>报告分别列出训练集、验证集和测试集的用途与结果。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19456"/>
            <a:ext cx="42976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字节域语义内容理解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14 加分项：损坏码流分类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1517904"/>
            <a:ext cx="1097280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课程提供与干净测试集对应的损坏测试数据，共包含以下两种基本损坏。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4088" y="1947672"/>
            <a:ext cx="3401568" cy="1371600"/>
          </a:xfrm>
          <a:prstGeom prst="roundRect">
            <a:avLst/>
          </a:prstGeom>
          <a:solidFill>
            <a:srgbClr val="F6E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112264"/>
            <a:ext cx="3054096" cy="35661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100" b="1">
                <a:solidFill>
                  <a:srgbClr val="BA3F3F"/>
                </a:solidFill>
                <a:latin typeface="Noto Sans CJK SC"/>
              </a:defRPr>
            </a:pPr>
            <a:r>
              <a:t>Bit flip｜比特翻转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615184"/>
            <a:ext cx="3026664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400" b="0">
                <a:solidFill>
                  <a:srgbClr val="243547"/>
                </a:solidFill>
                <a:latin typeface="Noto Sans CJK SC"/>
              </a:defRPr>
            </a:pPr>
            <a:r>
              <a:t>翻转选中字节的1位（长度不变）</a:t>
            </a:r>
          </a:p>
          <a:p>
            <a:pPr algn="ctr">
              <a:spcAft>
                <a:spcPts val="600"/>
              </a:spcAft>
              <a:defRPr sz="1400" b="0">
                <a:solidFill>
                  <a:srgbClr val="243547"/>
                </a:solidFill>
                <a:latin typeface="Noto Sans CJK SC"/>
              </a:defRPr>
            </a:pPr>
            <a:r>
              <a:t>10100110 → 10100010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9976" y="1947672"/>
            <a:ext cx="3401568" cy="1371600"/>
          </a:xfrm>
          <a:prstGeom prst="roundRect">
            <a:avLst/>
          </a:prstGeom>
          <a:solidFill>
            <a:srgbClr val="F4E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2112264"/>
            <a:ext cx="3054096" cy="35661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100" b="1">
                <a:solidFill>
                  <a:srgbClr val="A46A25"/>
                </a:solidFill>
                <a:latin typeface="Noto Sans CJK SC"/>
              </a:defRPr>
            </a:pPr>
            <a:r>
              <a:t>Byte loss｜字节丢失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2856" y="2615184"/>
            <a:ext cx="3026664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400" b="0">
                <a:solidFill>
                  <a:srgbClr val="243547"/>
                </a:solidFill>
                <a:latin typeface="Noto Sans CJK SC"/>
              </a:defRPr>
            </a:pPr>
            <a:r>
              <a:t>删除字节，后续字节前移</a:t>
            </a:r>
          </a:p>
          <a:p>
            <a:pPr algn="ctr">
              <a:spcAft>
                <a:spcPts val="600"/>
              </a:spcAft>
              <a:defRPr sz="1400" b="0">
                <a:solidFill>
                  <a:srgbClr val="243547"/>
                </a:solidFill>
                <a:latin typeface="Noto Sans CJK SC"/>
              </a:defRPr>
            </a:pPr>
            <a:r>
              <a:t>FF D8 A1 3C → FF D8 3C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5864" y="1947672"/>
            <a:ext cx="3401568" cy="13716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2112264"/>
            <a:ext cx="3054096" cy="35661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100" b="1">
                <a:solidFill>
                  <a:srgbClr val="176BA0"/>
                </a:solidFill>
                <a:latin typeface="Noto Sans CJK SC"/>
              </a:defRPr>
            </a:pPr>
            <a:r>
              <a:t>Mixed｜混合损坏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38744" y="2596896"/>
            <a:ext cx="3026664" cy="5943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400" b="0">
                <a:solidFill>
                  <a:srgbClr val="243547"/>
                </a:solidFill>
                <a:latin typeface="Noto Sans CJK SC"/>
              </a:defRPr>
            </a:pPr>
            <a:r>
              <a:t>每个样本随机选择翻转或丢失</a:t>
            </a:r>
          </a:p>
          <a:p>
            <a:pPr algn="ctr">
              <a:spcAft>
                <a:spcPts val="600"/>
              </a:spcAft>
              <a:defRPr sz="1400" b="0">
                <a:solidFill>
                  <a:srgbClr val="243547"/>
                </a:solidFill>
                <a:latin typeface="Noto Sans CJK SC"/>
              </a:defRPr>
            </a:pPr>
            <a:r>
              <a:t>检验模型对未知损坏的适应能力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" y="3593592"/>
            <a:ext cx="251460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100" b="1">
                <a:solidFill>
                  <a:srgbClr val="176BA0"/>
                </a:solidFill>
                <a:latin typeface="Noto Sans CJK SC"/>
              </a:defRPr>
            </a:pPr>
            <a:r>
              <a:t>可以尝试的方向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8" y="4041648"/>
            <a:ext cx="3401568" cy="107899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7824" y="4178808"/>
            <a:ext cx="3145536" cy="3017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176BA0"/>
                </a:solidFill>
                <a:latin typeface="Noto Sans CJK SC"/>
              </a:defRPr>
            </a:pPr>
            <a:r>
              <a:t>① 结果分析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" y="4535424"/>
            <a:ext cx="3145536" cy="47548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243547"/>
                </a:solidFill>
                <a:latin typeface="Noto Sans CJK SC"/>
              </a:defRPr>
            </a:pPr>
            <a:r>
              <a:t>比较Clean、Flip、Loss、Mixed，观察哪类损坏影响更大。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25696" y="4041648"/>
            <a:ext cx="3401568" cy="107899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53712" y="4178808"/>
            <a:ext cx="3145536" cy="3017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176BA0"/>
                </a:solidFill>
                <a:latin typeface="Noto Sans CJK SC"/>
              </a:defRPr>
            </a:pPr>
            <a:r>
              <a:t>② 损坏增强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3712" y="4535424"/>
            <a:ext cx="3145536" cy="47548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243547"/>
                </a:solidFill>
                <a:latin typeface="Noto Sans CJK SC"/>
              </a:defRPr>
            </a:pPr>
            <a:r>
              <a:t>训练时随机加入bit flip和byte loss样本。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1583" y="4041648"/>
            <a:ext cx="3401568" cy="107899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4178808"/>
            <a:ext cx="3145536" cy="3017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176BA0"/>
                </a:solidFill>
                <a:latin typeface="Noto Sans CJK SC"/>
              </a:defRPr>
            </a:pPr>
            <a:r>
              <a:t>③ 一致性约束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4535424"/>
            <a:ext cx="3145536" cy="47548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243547"/>
                </a:solidFill>
                <a:latin typeface="Noto Sans CJK SC"/>
              </a:defRPr>
            </a:pPr>
            <a:r>
              <a:t>让同一图像的干净码流与损坏码流输出接近。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5404104"/>
            <a:ext cx="202996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647483"/>
                </a:solidFill>
                <a:latin typeface="Noto Sans CJK SC"/>
              </a:defRPr>
            </a:pPr>
            <a:r>
              <a:t>参考资料：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57400" y="5385816"/>
            <a:ext cx="23317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3"/>
              </a:rPr>
              <a:t>CBSU-ALLM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51960" y="5385816"/>
            <a:ext cx="20574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4"/>
              </a:rPr>
              <a:t>BRACE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80760" y="5385816"/>
            <a:ext cx="20574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5"/>
              </a:rPr>
              <a:t>BSCV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5528" y="5824728"/>
            <a:ext cx="1046988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647483"/>
                </a:solidFill>
                <a:latin typeface="Noto Sans CJK SC"/>
              </a:defRPr>
            </a:pPr>
            <a:r>
              <a:t>提交改进方法、训练设置以及四类测试结果；可自行组合其他增强或鲁棒训练方法。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19456"/>
            <a:ext cx="42976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字节域语义内容理解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15 配套材料与参考文献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1517904"/>
            <a:ext cx="1097280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实验步骤、命令和数据说明见课程仓库与Notebook。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847088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3"/>
              </a:rPr>
              <a:t>课程仓库：代码、Notebook、数据、PPT和报告模板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304288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4"/>
              </a:rPr>
              <a:t>ByteFormer：Bytes Are All You Need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761488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5"/>
              </a:rPr>
              <a:t>MEGABYTE：Predicting Million-byte Sequences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3218688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6"/>
              </a:rPr>
              <a:t>MambaByte：Token-free Selective State Space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3675887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7"/>
              </a:rPr>
              <a:t>bGPT：Byte Models are Digital World Simulators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4133087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8"/>
              </a:rPr>
              <a:t>mBLM：Hierarchical Transformers for Byte Modeling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4590288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9"/>
              </a:rPr>
              <a:t>Kaggle Notebook官方文档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5047488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10"/>
              </a:rPr>
              <a:t>AutoDL官方快速开始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字节域语义内容理解实验说明</dc:title>
  <dc:subject>字节模型与ByteFormer码流图像分类实验</dc:subject>
  <dc:creator>Franklin-L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