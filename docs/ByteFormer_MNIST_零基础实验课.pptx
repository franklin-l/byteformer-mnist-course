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github.com/Franklin-L/byteformer-mnist-cours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kaggle.com/code" TargetMode="External"/><Relationship Id="rId4" Type="http://schemas.openxmlformats.org/officeDocument/2006/relationships/hyperlink" Target="https://www.autodl.com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zhuanlan.zhihu.com/p/18209757723" TargetMode="External"/><Relationship Id="rId4" Type="http://schemas.openxmlformats.org/officeDocument/2006/relationships/hyperlink" Target="https://blog.csdn.net/yyyyyybw/article/details/148336854" TargetMode="External"/><Relationship Id="rId5" Type="http://schemas.openxmlformats.org/officeDocument/2006/relationships/hyperlink" Target="https://www.kaggle.com/docs/notebooks" TargetMode="External"/><Relationship Id="rId6" Type="http://schemas.openxmlformats.org/officeDocument/2006/relationships/hyperlink" Target="https://github.com/Franklin-L/byteformer-mnist-course/raw/refs/heads/main/course_kaggle.ipynb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autodl.com/docs/quick_start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github.com/Franklin-L/byteformer-mnist-course" TargetMode="External"/><Relationship Id="rId4" Type="http://schemas.openxmlformats.org/officeDocument/2006/relationships/hyperlink" Target="https://www.kaggle.com/docs/notebooks" TargetMode="External"/><Relationship Id="rId5" Type="http://schemas.openxmlformats.org/officeDocument/2006/relationships/hyperlink" Target="https://www.autodl.com/docs/quick_start/" TargetMode="External"/><Relationship Id="rId6" Type="http://schemas.openxmlformats.org/officeDocument/2006/relationships/hyperlink" Target="https://arxiv.org/abs/2306.00238" TargetMode="External"/><Relationship Id="rId7" Type="http://schemas.openxmlformats.org/officeDocument/2006/relationships/hyperlink" Target="https://github.com/apple/corenet/tree/main/projects/byteformer" TargetMode="External"/><Relationship Id="rId8" Type="http://schemas.openxmlformats.org/officeDocument/2006/relationships/hyperlink" Target="https://github.com/cvdfoundation/mnis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m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19" y="0"/>
            <a:ext cx="8380256" cy="228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313432"/>
            <a:ext cx="12191695" cy="50292"/>
          </a:xfrm>
          <a:prstGeom prst="rect">
            <a:avLst/>
          </a:prstGeom>
          <a:solidFill>
            <a:srgbClr val="17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st_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22670"/>
            <a:ext cx="1645920" cy="12527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0" y="2770632"/>
            <a:ext cx="8869680" cy="103327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176BA0"/>
                </a:solidFill>
                <a:latin typeface="Noto Sans CJK SC"/>
              </a:defRPr>
            </a:pPr>
            <a:r>
              <a:t>ByteFormer 微调 MNIST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3913632"/>
            <a:ext cx="8686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0">
                <a:solidFill>
                  <a:srgbClr val="243547"/>
                </a:solidFill>
                <a:latin typeface="Noto Sans CJK SC"/>
              </a:defRPr>
            </a:pPr>
            <a:r>
              <a:t>图像分类实验任务说明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7752" y="4782312"/>
            <a:ext cx="8778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243547"/>
                </a:solidFill>
                <a:latin typeface="Noto Sans CJK SC"/>
              </a:defRPr>
            </a:pPr>
            <a:r>
              <a:t>授课教师：吴科君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6025896"/>
            <a:ext cx="91440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4"/>
              </a:rPr>
              <a:t>https://github.com/Franklin-L/byteformer-mnist-course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01 实验目标与任务要求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01952"/>
            <a:ext cx="82296" cy="228600"/>
          </a:xfrm>
          <a:prstGeom prst="rect">
            <a:avLst/>
          </a:prstGeom>
          <a:solidFill>
            <a:srgbClr val="17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28800"/>
            <a:ext cx="10698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43547"/>
                </a:solidFill>
                <a:latin typeface="Noto Sans CJK SC"/>
              </a:defRPr>
            </a:pPr>
            <a:r>
              <a:t>实验目标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194560"/>
            <a:ext cx="10561320" cy="9052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47483"/>
                </a:solidFill>
                <a:latin typeface="Noto Sans CJK SC"/>
              </a:defRPr>
            </a:pPr>
            <a:r>
              <a:t>加载官方预训练ByteFormer，完成MNIST手写数字0—9分类。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36392"/>
            <a:ext cx="82296" cy="228600"/>
          </a:xfrm>
          <a:prstGeom prst="rect">
            <a:avLst/>
          </a:prstGeom>
          <a:solidFill>
            <a:srgbClr val="17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063240"/>
            <a:ext cx="10698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43547"/>
                </a:solidFill>
                <a:latin typeface="Noto Sans CJK SC"/>
              </a:defRPr>
            </a:pPr>
            <a:r>
              <a:t>实验内容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429000"/>
            <a:ext cx="10561320" cy="9052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47483"/>
                </a:solidFill>
                <a:latin typeface="Noto Sans CJK SC"/>
              </a:defRPr>
            </a:pPr>
            <a:r>
              <a:t>设置训练参数，完成模型微调、验证结果分析及错例分析。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70832"/>
            <a:ext cx="82296" cy="228600"/>
          </a:xfrm>
          <a:prstGeom prst="rect">
            <a:avLst/>
          </a:prstGeom>
          <a:solidFill>
            <a:srgbClr val="17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297680"/>
            <a:ext cx="10698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43547"/>
                </a:solidFill>
                <a:latin typeface="Noto Sans CJK SC"/>
              </a:defRPr>
            </a:pPr>
            <a:r>
              <a:t>提交材料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663440"/>
            <a:ext cx="10561320" cy="9052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47483"/>
                </a:solidFill>
                <a:latin typeface="Noto Sans CJK SC"/>
              </a:defRPr>
            </a:pPr>
            <a:r>
              <a:t>提交实验报告及运行记录，包括参数设置、学习曲线、评估结果和错例分析。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02 ByteFormer原理与微调方法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1975104" cy="914400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240280"/>
            <a:ext cx="18288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76BA0"/>
                </a:solidFill>
                <a:latin typeface="Noto Sans CJK SC"/>
              </a:defRPr>
            </a:pPr>
            <a:r>
              <a:t>手写数字图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5" y="2276856"/>
            <a:ext cx="292608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76BA0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965960"/>
            <a:ext cx="1975104" cy="914400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2240280"/>
            <a:ext cx="18288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76BA0"/>
                </a:solidFill>
                <a:latin typeface="Noto Sans CJK SC"/>
              </a:defRPr>
            </a:pPr>
            <a:r>
              <a:t>JPEG 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276856"/>
            <a:ext cx="292608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76BA0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1965960"/>
            <a:ext cx="1975104" cy="914400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240280"/>
            <a:ext cx="18288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76BA0"/>
                </a:solidFill>
                <a:latin typeface="Noto Sans CJK SC"/>
              </a:defRPr>
            </a:pPr>
            <a:r>
              <a:t>字节序列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76856"/>
            <a:ext cx="292608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76BA0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1965960"/>
            <a:ext cx="1975104" cy="914400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2240280"/>
            <a:ext cx="18288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76BA0"/>
                </a:solidFill>
                <a:latin typeface="Noto Sans CJK SC"/>
              </a:defRPr>
            </a:pPr>
            <a:r>
              <a:t>ByteFormer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276856"/>
            <a:ext cx="292608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76BA0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9216" y="1965960"/>
            <a:ext cx="1975104" cy="914400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2240280"/>
            <a:ext cx="18288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76BA0"/>
                </a:solidFill>
                <a:latin typeface="Noto Sans CJK SC"/>
              </a:defRPr>
            </a:pPr>
            <a:r>
              <a:t>数字0—9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264408"/>
            <a:ext cx="10652760" cy="2148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243547"/>
                </a:solidFill>
                <a:latin typeface="Noto Sans CJK SC"/>
              </a:defRPr>
            </a:pPr>
            <a:r>
              <a:t>① 加载Apple官方ImageNet JPEG预训练ByteFormer Tiny。</a:t>
            </a:r>
          </a:p>
          <a:p>
            <a:pPr>
              <a:spcAft>
                <a:spcPts val="600"/>
              </a:spcAft>
              <a:defRPr sz="2300" b="0">
                <a:solidFill>
                  <a:srgbClr val="243547"/>
                </a:solidFill>
                <a:latin typeface="Noto Sans CJK SC"/>
              </a:defRPr>
            </a:pPr>
            <a:r>
              <a:t>② 保留完整12层主干，把原1000类分类头换成10类。</a:t>
            </a:r>
          </a:p>
          <a:p>
            <a:pPr>
              <a:spcAft>
                <a:spcPts val="600"/>
              </a:spcAft>
              <a:defRPr sz="2300" b="0">
                <a:solidFill>
                  <a:srgbClr val="243547"/>
                </a:solidFill>
                <a:latin typeface="Noto Sans CJK SC"/>
              </a:defRPr>
            </a:pPr>
            <a:r>
              <a:t>③ 使用MNIST继续训练全部参数，输出数字0—9的分类结果。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550408"/>
            <a:ext cx="1060704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647483"/>
                </a:solidFill>
                <a:latin typeface="Noto Sans CJK SC"/>
              </a:defRPr>
            </a:pPr>
            <a:r>
              <a:t>学生只需运行脚本；图像转JPEG、字节读取、模型加载均已封装。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03 MNIST 数据与训练 / 验证 / 测试划分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4</a:t>
            </a:r>
          </a:p>
        </p:txBody>
      </p:sp>
      <p:pic>
        <p:nvPicPr>
          <p:cNvPr id="9" name="Picture 8" descr="mnist_dig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11095"/>
            <a:ext cx="4617720" cy="18470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" y="4288536"/>
            <a:ext cx="438912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28×28灰度图；10个数字类别。</a:t>
            </a:r>
          </a:p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原始文件已随GitHub仓库提供。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9552" y="1874519"/>
            <a:ext cx="5879592" cy="914400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965960"/>
            <a:ext cx="18288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6BA0"/>
                </a:solidFill>
                <a:latin typeface="Noto Sans CJK SC"/>
              </a:defRPr>
            </a:pPr>
            <a:r>
              <a:t>训练</a:t>
            </a:r>
          </a:p>
          <a:p>
            <a:pPr>
              <a:spcAft>
                <a:spcPts val="600"/>
              </a:spcAft>
              <a:defRPr sz="2000" b="1">
                <a:solidFill>
                  <a:srgbClr val="176BA0"/>
                </a:solidFill>
                <a:latin typeface="Noto Sans CJK SC"/>
              </a:defRPr>
            </a:pPr>
            <a:r>
              <a:t>50,000张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39696"/>
            <a:ext cx="34747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更新模型参数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59552" y="2953511"/>
            <a:ext cx="5879592" cy="914400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044951"/>
            <a:ext cx="18288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6BA0"/>
                </a:solidFill>
                <a:latin typeface="Noto Sans CJK SC"/>
              </a:defRPr>
            </a:pPr>
            <a:r>
              <a:t>验证</a:t>
            </a:r>
          </a:p>
          <a:p>
            <a:pPr>
              <a:spcAft>
                <a:spcPts val="600"/>
              </a:spcAft>
              <a:defRPr sz="2000" b="1">
                <a:solidFill>
                  <a:srgbClr val="176BA0"/>
                </a:solidFill>
                <a:latin typeface="Noto Sans CJK SC"/>
              </a:defRPr>
            </a:pPr>
            <a:r>
              <a:t>1,000张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218687"/>
            <a:ext cx="34747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每轮检查，选择best.pt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9552" y="4032504"/>
            <a:ext cx="5879592" cy="914400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123944"/>
            <a:ext cx="18288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6BA0"/>
                </a:solidFill>
                <a:latin typeface="Noto Sans CJK SC"/>
              </a:defRPr>
            </a:pPr>
            <a:r>
              <a:t>测试</a:t>
            </a:r>
          </a:p>
          <a:p>
            <a:pPr>
              <a:spcAft>
                <a:spcPts val="600"/>
              </a:spcAft>
              <a:defRPr sz="2000" b="1">
                <a:solidFill>
                  <a:srgbClr val="176BA0"/>
                </a:solidFill>
                <a:latin typeface="Noto Sans CJK SC"/>
              </a:defRPr>
            </a:pPr>
            <a:r>
              <a:t>10,000张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297680"/>
            <a:ext cx="34747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模型确定后最终评估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596128"/>
            <a:ext cx="106527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47483"/>
                </a:solidFill>
                <a:latin typeface="Noto Sans CJK SC"/>
              </a:defRPr>
            </a:pPr>
            <a:r>
              <a:t>官方60,000张训练图先分为50,000训练池+10,000验证池；本课固定取1,000验证图，余9,000张未使用。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04 实验环境与配套材料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517904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47483"/>
                </a:solidFill>
                <a:latin typeface="Noto Sans CJK SC"/>
              </a:defRPr>
            </a:pPr>
            <a:r>
              <a:t>免费额度、可用GPU与租用价格，以平台当前页面为准。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214884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429768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运行平台</a:t>
                      </a:r>
                    </a:p>
                  </a:txBody>
                  <a:tcPr marL="118872" marT="91440">
                    <a:solidFill>
                      <a:srgbClr val="176B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环境要求</a:t>
                      </a:r>
                    </a:p>
                  </a:txBody>
                  <a:tcPr marL="118872" marT="91440">
                    <a:solidFill>
                      <a:srgbClr val="176B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使用方式</a:t>
                      </a:r>
                    </a:p>
                  </a:txBody>
                  <a:tcPr marL="118872" marT="91440">
                    <a:solidFill>
                      <a:srgbClr val="176BA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Kaggle免费GPU</a:t>
                      </a:r>
                    </a:p>
                  </a:txBody>
                  <a:tcPr marL="118872" marT="91440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账号、可用GPU额度、Internet</a:t>
                      </a:r>
                    </a:p>
                  </a:txBody>
                  <a:tcPr marL="118872" marT="91440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导入课程Notebook，逐格运行</a:t>
                      </a:r>
                    </a:p>
                  </a:txBody>
                  <a:tcPr marL="118872" marT="91440">
                    <a:solidFill>
                      <a:srgbClr val="ED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AutoDL备用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按当前报价租1张GPU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选择PyTorch镜像，打开Terminal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本地CPU</a:t>
                      </a:r>
                    </a:p>
                  </a:txBody>
                  <a:tcPr marL="118872" marT="91440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已有Python/PyTorch环境</a:t>
                      </a:r>
                    </a:p>
                  </a:txBody>
                  <a:tcPr marL="118872" marT="91440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小样本流程检查，不替代正式实验</a:t>
                      </a:r>
                    </a:p>
                  </a:txBody>
                  <a:tcPr marL="118872" marT="91440">
                    <a:solidFill>
                      <a:srgbClr val="EDF4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8096" y="5074920"/>
            <a:ext cx="49377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3"/>
              </a:rPr>
              <a:t>Kaggle：创建Notebook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074920"/>
            <a:ext cx="49377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4"/>
              </a:rPr>
              <a:t>AutoDL：实例与价格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605272"/>
            <a:ext cx="1060704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43547"/>
                </a:solidFill>
                <a:latin typeface="Noto Sans CJK SC"/>
              </a:defRPr>
            </a:pPr>
            <a:r>
              <a:t>配套：course_kaggle.ipynb逐步操作 ｜ README完整命令 ｜ Word实验报告模板。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05 Kaggle GPU使用参考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28800"/>
            <a:ext cx="10671048" cy="621792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38528"/>
            <a:ext cx="10232136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3"/>
              </a:rPr>
              <a:t>知乎｜Kaggle GPU资源使用教程——针对超级小白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15184"/>
            <a:ext cx="10671048" cy="621792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724912"/>
            <a:ext cx="10232136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4"/>
              </a:rPr>
              <a:t>CSDN｜科研小白扫盲：Kaggle平台使用指导指南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401568"/>
            <a:ext cx="10671048" cy="621792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511296"/>
            <a:ext cx="10232136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5"/>
              </a:rPr>
              <a:t>Kaggle官方｜Notebook使用文档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462272"/>
            <a:ext cx="104241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6"/>
              </a:rPr>
              <a:t>课程Notebook：下载course_kaggle.ipynb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5102352"/>
            <a:ext cx="1037844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243547"/>
                </a:solidFill>
                <a:latin typeface="Noto Sans CJK SC"/>
              </a:defRPr>
            </a:pPr>
            <a:r>
              <a:t>按教程准备好GPU后，导入课程Notebook，逐格运行。</a:t>
            </a:r>
          </a:p>
          <a:p>
            <a:pPr>
              <a:spcAft>
                <a:spcPts val="600"/>
              </a:spcAft>
              <a:defRPr sz="2100" b="0">
                <a:solidFill>
                  <a:srgbClr val="243547"/>
                </a:solidFill>
                <a:latin typeface="Noto Sans CJK SC"/>
              </a:defRPr>
            </a:pPr>
            <a:r>
              <a:t>环境检查显示 GPU available: True，即可继续实验。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06 获取代码、数据与预训练权重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517904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47483"/>
                </a:solidFill>
                <a:latin typeface="Noto Sans CJK SC"/>
              </a:defRPr>
            </a:pPr>
            <a:r>
              <a:t>Kaggle笔记本已写好这些命令，按顺序运行即可。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10725912" cy="1755648"/>
          </a:xfrm>
          <a:prstGeom prst="roundRect">
            <a:avLst/>
          </a:prstGeom>
          <a:solidFill>
            <a:srgbClr val="203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76856"/>
            <a:ext cx="10396728" cy="14996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!git clone https://github.com/Franklin-L/byteformer-mnist-course.git</a:t>
            </a:r>
          </a:p>
          <a:p>
            <a:pPr>
              <a:spcAft>
                <a:spcPts val="30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%cd /kaggle/working/byteformer-mnist-course</a:t>
            </a:r>
          </a:p>
          <a:p>
            <a:pPr>
              <a:spcAft>
                <a:spcPts val="30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!python -m pip install -r requirements.txt</a:t>
            </a:r>
          </a:p>
          <a:p>
            <a:pPr>
              <a:spcAft>
                <a:spcPts val="30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!python prepare.py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251960"/>
            <a:ext cx="106070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看到[READY]即准备完成：MNIST约11.6MB随仓库提供；官方权重约64MB自动下载并校验。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230368"/>
            <a:ext cx="10607040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47483"/>
                </a:solidFill>
                <a:latin typeface="Noto Sans CJK SC"/>
              </a:defRPr>
            </a:pPr>
            <a:r>
              <a:t>prepare.py：准备资源　train.py：微调　evaluate.py：评估　predict.py：预测</a:t>
            </a:r>
          </a:p>
          <a:p>
            <a:pPr>
              <a:spcAft>
                <a:spcPts val="600"/>
              </a:spcAft>
              <a:defRPr sz="1800" b="0">
                <a:solidFill>
                  <a:srgbClr val="647483"/>
                </a:solidFill>
                <a:latin typeface="Noto Sans CJK SC"/>
              </a:defRPr>
            </a:pPr>
            <a:r>
              <a:t>data/：数据　checkpoints/：预训练权重　outputs/：你自己的实验结果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07 模型训练与参数设置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56231"/>
            <a:ext cx="5047488" cy="539496"/>
          </a:xfrm>
          <a:prstGeom prst="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47672"/>
            <a:ext cx="199339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76BA0"/>
                </a:solidFill>
                <a:latin typeface="Noto Sans CJK SC"/>
              </a:defRPr>
            </a:pPr>
            <a:r>
              <a:t>训练样本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947672"/>
            <a:ext cx="2779776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43547"/>
                </a:solidFill>
                <a:latin typeface="Noto Sans CJK SC"/>
              </a:defRPr>
            </a:pPr>
            <a:r>
              <a:t>50,000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87168"/>
            <a:ext cx="5047488" cy="539496"/>
          </a:xfrm>
          <a:prstGeom prst="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578608"/>
            <a:ext cx="199339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76BA0"/>
                </a:solidFill>
                <a:latin typeface="Noto Sans CJK SC"/>
              </a:defRPr>
            </a:pPr>
            <a:r>
              <a:t>验证 / 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578608"/>
            <a:ext cx="2779776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43547"/>
                </a:solidFill>
                <a:latin typeface="Noto Sans CJK SC"/>
              </a:defRPr>
            </a:pPr>
            <a:r>
              <a:t>1,000 / 10,000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18103"/>
            <a:ext cx="5047488" cy="539496"/>
          </a:xfrm>
          <a:prstGeom prst="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209544"/>
            <a:ext cx="199339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76BA0"/>
                </a:solidFill>
                <a:latin typeface="Noto Sans CJK SC"/>
              </a:defRPr>
            </a:pPr>
            <a:r>
              <a:t>训练轮数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209544"/>
            <a:ext cx="2779776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43547"/>
                </a:solidFill>
                <a:latin typeface="Noto Sans CJK SC"/>
              </a:defRPr>
            </a:pPr>
            <a:r>
              <a:t>自行设置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5047488" cy="539496"/>
          </a:xfrm>
          <a:prstGeom prst="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40479"/>
            <a:ext cx="199339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76BA0"/>
                </a:solidFill>
                <a:latin typeface="Noto Sans CJK SC"/>
              </a:defRPr>
            </a:pPr>
            <a:r>
              <a:t>batch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840479"/>
            <a:ext cx="2779776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43547"/>
                </a:solidFill>
                <a:latin typeface="Noto Sans CJK SC"/>
              </a:defRPr>
            </a:pPr>
            <a:r>
              <a:t>自行设置，参考32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379975"/>
            <a:ext cx="5047488" cy="539496"/>
          </a:xfrm>
          <a:prstGeom prst="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4471415"/>
            <a:ext cx="199339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76BA0"/>
                </a:solidFill>
                <a:latin typeface="Noto Sans CJK SC"/>
              </a:defRPr>
            </a:pPr>
            <a:r>
              <a:t>学习率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471415"/>
            <a:ext cx="2779776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43547"/>
                </a:solidFill>
                <a:latin typeface="Noto Sans CJK SC"/>
              </a:defRPr>
            </a:pPr>
            <a:r>
              <a:t>主干1e-4；分类头10倍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1911095"/>
            <a:ext cx="5230368" cy="1719072"/>
          </a:xfrm>
          <a:prstGeom prst="roundRect">
            <a:avLst/>
          </a:prstGeom>
          <a:solidFill>
            <a:srgbClr val="203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79" y="2039112"/>
            <a:ext cx="4901183" cy="1463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EPOCHS = int(input("epochs: "))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BATCH_SIZE = int(input("batch: "))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!python train.py --epochs {EPOCHS} \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  --batch-size {BATCH_SIZE}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3886200"/>
            <a:ext cx="4919472" cy="1463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看到[DONE]即训练完成。</a:t>
            </a:r>
          </a:p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结果保存到outputs/baseline/。</a:t>
            </a:r>
          </a:p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请记录实际使用的参数。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96128"/>
            <a:ext cx="104698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47483"/>
                </a:solidFill>
                <a:latin typeface="Noto Sans CJK SC"/>
              </a:defRPr>
            </a:pPr>
            <a:r>
              <a:t>训练轮数和batch size均可调整；参考值仅供起步，测试集只作最终评估。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08 训练结果分析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28800"/>
            <a:ext cx="10698480" cy="1170432"/>
          </a:xfrm>
          <a:prstGeom prst="roundRect">
            <a:avLst/>
          </a:prstGeom>
          <a:solidFill>
            <a:srgbClr val="203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6"/>
            <a:ext cx="10369296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FFFFFF"/>
                </a:solidFill>
                <a:latin typeface="DejaVu Sans Mono"/>
              </a:defRPr>
            </a:pPr>
            <a:r>
              <a:t>from IPython.display import display, Image</a:t>
            </a:r>
          </a:p>
          <a:p>
            <a:pPr>
              <a:spcAft>
                <a:spcPts val="300"/>
              </a:spcAft>
              <a:defRPr sz="2000" b="0">
                <a:solidFill>
                  <a:srgbClr val="FFFFFF"/>
                </a:solidFill>
                <a:latin typeface="DejaVu Sans Mono"/>
              </a:defRPr>
            </a:pPr>
            <a:r>
              <a:t>display(Image("outputs/baseline/curves.png"))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3456432"/>
            <a:ext cx="3547872" cy="174650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21024"/>
            <a:ext cx="3218688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76BA0"/>
                </a:solidFill>
                <a:latin typeface="Noto Sans CJK SC"/>
              </a:defRPr>
            </a:pPr>
            <a:r>
              <a:t>训练损失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3218688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43547"/>
                </a:solidFill>
                <a:latin typeface="Noto Sans CJK SC"/>
              </a:defRPr>
            </a:pPr>
            <a:r>
              <a:t>损失是否逐渐下降？</a:t>
            </a:r>
          </a:p>
          <a:p>
            <a:pPr>
              <a:spcAft>
                <a:spcPts val="600"/>
              </a:spcAft>
              <a:defRPr sz="1900" b="0">
                <a:solidFill>
                  <a:srgbClr val="243547"/>
                </a:solidFill>
                <a:latin typeface="Noto Sans CJK SC"/>
              </a:defRPr>
            </a:pPr>
            <a:r>
              <a:t>后期是否还在改善？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456432"/>
            <a:ext cx="3547872" cy="174650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3621024"/>
            <a:ext cx="3218688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76BA0"/>
                </a:solidFill>
                <a:latin typeface="Noto Sans CJK SC"/>
              </a:defRPr>
            </a:pPr>
            <a:r>
              <a:t>验证表现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251960"/>
            <a:ext cx="3218688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43547"/>
                </a:solidFill>
                <a:latin typeface="Noto Sans CJK SC"/>
              </a:defRPr>
            </a:pPr>
            <a:r>
              <a:t>验证准确率怎样变化？</a:t>
            </a:r>
          </a:p>
          <a:p>
            <a:pPr>
              <a:spcAft>
                <a:spcPts val="600"/>
              </a:spcAft>
              <a:defRPr sz="1900" b="0">
                <a:solidFill>
                  <a:srgbClr val="243547"/>
                </a:solidFill>
                <a:latin typeface="Noto Sans CJK SC"/>
              </a:defRPr>
            </a:pPr>
            <a:r>
              <a:t>与训练表现差距多大？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5048" y="3456432"/>
            <a:ext cx="3547872" cy="174650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3621024"/>
            <a:ext cx="3218688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76BA0"/>
                </a:solidFill>
                <a:latin typeface="Noto Sans CJK SC"/>
              </a:defRPr>
            </a:pPr>
            <a:r>
              <a:t>测试结果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4251960"/>
            <a:ext cx="3218688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43547"/>
                </a:solidFill>
                <a:latin typeface="Noto Sans CJK SC"/>
              </a:defRPr>
            </a:pPr>
            <a:r>
              <a:t>加载验证集选出的模型，</a:t>
            </a:r>
          </a:p>
          <a:p>
            <a:pPr>
              <a:spcAft>
                <a:spcPts val="600"/>
              </a:spcAft>
              <a:defRPr sz="1900" b="0">
                <a:solidFill>
                  <a:srgbClr val="243547"/>
                </a:solidFill>
                <a:latin typeface="Noto Sans CJK SC"/>
              </a:defRPr>
            </a:pPr>
            <a:r>
              <a:t>在测试集上评估并记录。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5596128"/>
            <a:ext cx="10424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647483"/>
                </a:solidFill>
                <a:latin typeface="Noto Sans CJK SC"/>
              </a:defRPr>
            </a:pPr>
            <a:r>
              <a:t>指标与参数保存在metrics.json中；结合曲线，解释本次实验的结果。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09 评估、单图预测与错例检查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744200" cy="1197864"/>
          </a:xfrm>
          <a:prstGeom prst="roundRect">
            <a:avLst/>
          </a:prstGeom>
          <a:solidFill>
            <a:srgbClr val="203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56816"/>
            <a:ext cx="10415016" cy="9418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!python evaluate.py --checkpoint outputs/baseline/best.pt</a:t>
            </a:r>
          </a:p>
          <a:p>
            <a:pPr>
              <a:spcAft>
                <a:spcPts val="30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!python predict.py --checkpoint outputs/baseline/best.pt --index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374136"/>
            <a:ext cx="5513832" cy="19751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评估：读取best.pt，保存evaluation.json。</a:t>
            </a:r>
          </a:p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预测：显示真实标签与预测，生成单图结果。</a:t>
            </a:r>
          </a:p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实操：换一个0—9999的测试索引。</a:t>
            </a:r>
          </a:p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错例：Notebook自动给出错误样本索引。</a:t>
            </a:r>
          </a:p>
        </p:txBody>
      </p:sp>
      <p:pic>
        <p:nvPicPr>
          <p:cNvPr id="12" name="Picture 11" descr="example_dig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3246120"/>
            <a:ext cx="2084831" cy="20848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0" y="5440680"/>
            <a:ext cx="42062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76BA0"/>
                </a:solidFill>
                <a:latin typeface="Noto Sans CJK SC"/>
              </a:defRPr>
            </a:pPr>
            <a:r>
              <a:t>真实标签7 ｜ 模型预测7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05856"/>
            <a:ext cx="594360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47483"/>
                </a:solidFill>
                <a:latin typeface="Noto Sans CJK SC"/>
              </a:defRPr>
            </a:pPr>
            <a:r>
              <a:t>Notebook另提供完整预测图和混淆矩阵，供查找与分析错例。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10 参数对比实验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1856231"/>
            <a:ext cx="10707624" cy="1755648"/>
          </a:xfrm>
          <a:prstGeom prst="roundRect">
            <a:avLst/>
          </a:prstGeom>
          <a:solidFill>
            <a:srgbClr val="203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984248"/>
            <a:ext cx="10378440" cy="14996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COMPARISON_EPOCHS = int(input("epochs: "))</a:t>
            </a:r>
          </a:p>
          <a:p>
            <a:pPr>
              <a:spcAft>
                <a:spcPts val="30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COMPARISON_BATCH_SIZE = int(input("batch: "))</a:t>
            </a:r>
          </a:p>
          <a:p>
            <a:pPr>
              <a:spcAft>
                <a:spcPts val="30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!python train.py --epochs {COMPARISON_EPOCHS} \</a:t>
            </a:r>
          </a:p>
          <a:p>
            <a:pPr>
              <a:spcAft>
                <a:spcPts val="30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  --batch-size {COMPARISON_BATCH_SIZE} --output outputs/comparison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22191"/>
            <a:ext cx="5257800" cy="17922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43547"/>
                </a:solidFill>
                <a:latin typeface="Noto Sans CJK SC"/>
              </a:defRPr>
            </a:pPr>
            <a:r>
              <a:t>轮数和batch size均自行设置，</a:t>
            </a:r>
          </a:p>
          <a:p>
            <a:pPr>
              <a:spcAft>
                <a:spcPts val="600"/>
              </a:spcAft>
              <a:defRPr sz="1900" b="0">
                <a:solidFill>
                  <a:srgbClr val="243547"/>
                </a:solidFill>
                <a:latin typeface="Noto Sans CJK SC"/>
              </a:defRPr>
            </a:pPr>
            <a:r>
              <a:t>建议一次只改变其中一项。</a:t>
            </a:r>
          </a:p>
          <a:p>
            <a:pPr>
              <a:spcAft>
                <a:spcPts val="600"/>
              </a:spcAft>
              <a:defRPr sz="1900" b="0">
                <a:solidFill>
                  <a:srgbClr val="243547"/>
                </a:solidFill>
                <a:latin typeface="Noto Sans CJK SC"/>
              </a:defRPr>
            </a:pPr>
            <a:r>
              <a:t>数据、随机种子和预训练来源相同。</a:t>
            </a:r>
          </a:p>
          <a:p>
            <a:pPr>
              <a:spcAft>
                <a:spcPts val="600"/>
              </a:spcAft>
              <a:defRPr sz="1900" b="0">
                <a:solidFill>
                  <a:srgbClr val="243547"/>
                </a:solidFill>
                <a:latin typeface="Noto Sans CJK SC"/>
              </a:defRPr>
            </a:pPr>
            <a:r>
              <a:t>保留baseline，另存comparison。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7376" y="3767328"/>
            <a:ext cx="4718304" cy="1901952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886200"/>
            <a:ext cx="4315968" cy="1655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43547"/>
                </a:solidFill>
                <a:latin typeface="Noto Sans CJK SC"/>
              </a:defRPr>
            </a:pPr>
            <a:r>
              <a:t>对比分析内容</a:t>
            </a:r>
          </a:p>
          <a:p>
            <a:pPr>
              <a:spcAft>
                <a:spcPts val="600"/>
              </a:spcAft>
              <a:defRPr sz="1700" b="0">
                <a:solidFill>
                  <a:srgbClr val="243547"/>
                </a:solidFill>
                <a:latin typeface="Noto Sans CJK SC"/>
              </a:defRPr>
            </a:pPr>
            <a:r>
              <a:t>· 验证准确率是否提高？</a:t>
            </a:r>
          </a:p>
          <a:p>
            <a:pPr>
              <a:spcAft>
                <a:spcPts val="600"/>
              </a:spcAft>
              <a:defRPr sz="1700" b="0">
                <a:solidFill>
                  <a:srgbClr val="243547"/>
                </a:solidFill>
                <a:latin typeface="Noto Sans CJK SC"/>
              </a:defRPr>
            </a:pPr>
            <a:r>
              <a:t>· 训练损失怎样变化？</a:t>
            </a:r>
          </a:p>
          <a:p>
            <a:pPr>
              <a:spcAft>
                <a:spcPts val="600"/>
              </a:spcAft>
              <a:defRPr sz="1700" b="0">
                <a:solidFill>
                  <a:srgbClr val="243547"/>
                </a:solidFill>
                <a:latin typeface="Noto Sans CJK SC"/>
              </a:defRPr>
            </a:pPr>
            <a:r>
              <a:t>· 改变设置的收益与代价？</a:t>
            </a:r>
          </a:p>
          <a:p>
            <a:pPr>
              <a:spcAft>
                <a:spcPts val="600"/>
              </a:spcAft>
              <a:defRPr sz="1700" b="0">
                <a:solidFill>
                  <a:srgbClr val="243547"/>
                </a:solidFill>
                <a:latin typeface="Noto Sans CJK SC"/>
              </a:defRPr>
            </a:pPr>
            <a:r>
              <a:t>· 为什么还需要验证集？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24728"/>
            <a:ext cx="103784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47483"/>
                </a:solidFill>
                <a:latin typeface="Noto Sans CJK SC"/>
              </a:defRPr>
            </a:pPr>
            <a:r>
              <a:t>记录两次实验的参数、验证准确率与耗时，解释设置变化带来的影响。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11 AutoDL环境配置与运行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792224"/>
            <a:ext cx="106527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租用1张GPU并选择PyTorch镜像 → 打开JupyterLab → Terminal；以下命令前不加 !。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423160"/>
            <a:ext cx="10707624" cy="2496312"/>
          </a:xfrm>
          <a:prstGeom prst="roundRect">
            <a:avLst/>
          </a:prstGeom>
          <a:solidFill>
            <a:srgbClr val="203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51176"/>
            <a:ext cx="10378440" cy="2240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/root/autodl-tmp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git clone https://github.com/Franklin-L/byteformer-mnist-course.git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byteformer-mnist-course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python -m pip install -r requirements.txt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python prepare.py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read -p "epochs: " EPOCHS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read -p "batch size (ref 32): " BATCH_SIZE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python train.py --epochs "$EPOCHS" --batch-size "$BATCH_SIZE"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5084064"/>
            <a:ext cx="10451592" cy="8138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43547"/>
                </a:solidFill>
                <a:latin typeface="Noto Sans CJK SC"/>
              </a:defRPr>
            </a:pPr>
            <a:r>
              <a:t>运行后下载outputs中的指标和图；如需继续预测，保存best.pt。</a:t>
            </a:r>
          </a:p>
          <a:p>
            <a:pPr>
              <a:spcAft>
                <a:spcPts val="600"/>
              </a:spcAft>
              <a:defRPr sz="1900" b="0">
                <a:solidFill>
                  <a:srgbClr val="243547"/>
                </a:solidFill>
                <a:latin typeface="Noto Sans CJK SC"/>
              </a:defRPr>
            </a:pPr>
            <a:r>
              <a:t>结束后回控制台关机：关闭浏览器不等于关机。价格以页面当前报价为准。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07608"/>
            <a:ext cx="103327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3"/>
              </a:rPr>
              <a:t>AutoDL官方快速开始（实例、JupyterLab、Terminal）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12 常见问题与处理方法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874519"/>
          <a:ext cx="10789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699516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现象</a:t>
                      </a:r>
                    </a:p>
                  </a:txBody>
                  <a:tcPr marL="118872" marT="91440">
                    <a:solidFill>
                      <a:srgbClr val="176B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处理</a:t>
                      </a:r>
                    </a:p>
                  </a:txBody>
                  <a:tcPr marL="118872" marT="91440">
                    <a:solidFill>
                      <a:srgbClr val="176BA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GPU available: False</a:t>
                      </a:r>
                    </a:p>
                  </a:txBody>
                  <a:tcPr marL="118872" marT="91440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开启Kaggle GPU；或确认AutoDL实例和PyTorch环境</a:t>
                      </a:r>
                    </a:p>
                  </a:txBody>
                  <a:tcPr marL="118872" marT="91440">
                    <a:solidFill>
                      <a:srgbClr val="ED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No module named ...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在当前课程目录安装requirements.txt，确认使用同一环境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下载超时 / 校验失败</a:t>
                      </a:r>
                    </a:p>
                  </a:txBody>
                  <a:tcPr marL="118872" marT="91440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开启Internet重试；或使用教师预下载资源包</a:t>
                      </a:r>
                    </a:p>
                  </a:txBody>
                  <a:tcPr marL="118872" marT="91440">
                    <a:solidFill>
                      <a:srgbClr val="ED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CUDA out of memory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减小batch size，如32降到16或8，并记录实际值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输出目录已存在 / best.pt找不到</a:t>
                      </a:r>
                    </a:p>
                  </a:txBody>
                  <a:tcPr marL="118872" marT="91440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重跑使用新output；评估checkpoint对应实际训练目录</a:t>
                      </a:r>
                    </a:p>
                  </a:txBody>
                  <a:tcPr marL="118872" marT="91440">
                    <a:solidFill>
                      <a:srgbClr val="ED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验证表现不再改善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43547"/>
                          </a:solidFill>
                          <a:latin typeface="Noto Sans CJK SC"/>
                        </a:defRPr>
                      </a:pPr>
                      <a:r>
                        <a:t>查看训练与验证曲线，检查样本量、预训练权重与学习率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4672" y="5971032"/>
            <a:ext cx="104698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47483"/>
                </a:solidFill>
                <a:latin typeface="Noto Sans CJK SC"/>
              </a:defRPr>
            </a:pPr>
            <a:r>
              <a:t>CPU备用：README提供小样本流程检查命令，便于先熟悉代码运行。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13 实验结果与报告提交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10512"/>
            <a:ext cx="5513832" cy="33284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243547"/>
                </a:solidFill>
                <a:latin typeface="Noto Sans CJK SC"/>
              </a:defRPr>
            </a:pPr>
            <a:r>
              <a:t>① 运行Notebook最后的打包单元格。</a:t>
            </a:r>
          </a:p>
          <a:p>
            <a:pPr>
              <a:spcAft>
                <a:spcPts val="600"/>
              </a:spcAft>
              <a:defRPr sz="2100" b="0">
                <a:solidFill>
                  <a:srgbClr val="243547"/>
                </a:solidFill>
                <a:latin typeface="Noto Sans CJK SC"/>
              </a:defRPr>
            </a:pPr>
            <a:r>
              <a:t>② 在文件面板下载byteformer_mnist_results.zip。</a:t>
            </a:r>
          </a:p>
          <a:p>
            <a:pPr>
              <a:spcAft>
                <a:spcPts val="600"/>
              </a:spcAft>
              <a:defRPr sz="2100" b="0">
                <a:solidFill>
                  <a:srgbClr val="243547"/>
                </a:solidFill>
                <a:latin typeface="Noto Sans CJK SC"/>
              </a:defRPr>
            </a:pPr>
            <a:r>
              <a:t>③ 用Word模板填写自己的环境、命令、指标和解释。</a:t>
            </a:r>
          </a:p>
          <a:p>
            <a:pPr>
              <a:spcAft>
                <a:spcPts val="600"/>
              </a:spcAft>
              <a:defRPr sz="2100" b="0">
                <a:solidFill>
                  <a:srgbClr val="243547"/>
                </a:solidFill>
                <a:latin typeface="Noto Sans CJK SC"/>
              </a:defRPr>
            </a:pPr>
            <a:r>
              <a:t>④ 附两组曲线、预测图、错例证据。</a:t>
            </a:r>
          </a:p>
          <a:p>
            <a:pPr>
              <a:spcAft>
                <a:spcPts val="600"/>
              </a:spcAft>
              <a:defRPr sz="2100" b="0">
                <a:solidFill>
                  <a:srgbClr val="243547"/>
                </a:solidFill>
                <a:latin typeface="Noto Sans CJK SC"/>
              </a:defRPr>
            </a:pPr>
          </a:p>
          <a:p>
            <a:pPr>
              <a:spcAft>
                <a:spcPts val="600"/>
              </a:spcAft>
              <a:defRPr sz="2100" b="0">
                <a:solidFill>
                  <a:srgbClr val="243547"/>
                </a:solidFill>
                <a:latin typeface="Noto Sans CJK SC"/>
              </a:defRPr>
            </a:pPr>
            <a:r>
              <a:t>默认不用提交数据集、Python环境或大模型。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856231"/>
            <a:ext cx="457200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76BA0"/>
                </a:solidFill>
                <a:latin typeface="Noto Sans CJK SC"/>
              </a:defRPr>
            </a:pPr>
            <a:r>
              <a:t>基础任务达标检查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28816" y="2450592"/>
            <a:ext cx="4636008" cy="411480"/>
          </a:xfrm>
          <a:prstGeom prst="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2496312"/>
            <a:ext cx="4343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43547"/>
                </a:solidFill>
                <a:latin typeface="Noto Sans CJK SC"/>
              </a:defRPr>
            </a:pPr>
            <a:r>
              <a:t>训练、验证和测试流程完整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8816" y="2916936"/>
            <a:ext cx="4636008" cy="411480"/>
          </a:xfrm>
          <a:prstGeom prst="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5976" y="2962656"/>
            <a:ext cx="4343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43547"/>
                </a:solidFill>
                <a:latin typeface="Noto Sans CJK SC"/>
              </a:defRPr>
            </a:pPr>
            <a:r>
              <a:t>记录实际参数与运行环境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8816" y="3383280"/>
            <a:ext cx="4636008" cy="411480"/>
          </a:xfrm>
          <a:prstGeom prst="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5976" y="3429000"/>
            <a:ext cx="4343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43547"/>
                </a:solidFill>
                <a:latin typeface="Noto Sans CJK SC"/>
              </a:defRPr>
            </a:pPr>
            <a:r>
              <a:t>说明训练与验证曲线变化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28816" y="3849624"/>
            <a:ext cx="4636008" cy="411480"/>
          </a:xfrm>
          <a:prstGeom prst="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5976" y="3895344"/>
            <a:ext cx="4343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43547"/>
                </a:solidFill>
                <a:latin typeface="Noto Sans CJK SC"/>
              </a:defRPr>
            </a:pPr>
            <a:r>
              <a:t>完成一次自选参数对比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4315968"/>
            <a:ext cx="4636008" cy="411480"/>
          </a:xfrm>
          <a:prstGeom prst="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5976" y="4361688"/>
            <a:ext cx="4343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43547"/>
                </a:solidFill>
                <a:latin typeface="Noto Sans CJK SC"/>
              </a:defRPr>
            </a:pPr>
            <a:r>
              <a:t>查看预测并分析错例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28816" y="4782312"/>
            <a:ext cx="4636008" cy="411480"/>
          </a:xfrm>
          <a:prstGeom prst="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5976" y="4828032"/>
            <a:ext cx="4343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43547"/>
                </a:solidFill>
                <a:latin typeface="Noto Sans CJK SC"/>
              </a:defRPr>
            </a:pPr>
            <a:r>
              <a:t>提交自己的实验报告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69864"/>
            <a:ext cx="10451592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BA3F3F"/>
                </a:solidFill>
                <a:latin typeface="Noto Sans CJK SC"/>
              </a:defRPr>
            </a:pPr>
            <a:r>
              <a:t>提交时间与方式由任课教师通知；报告分别列出验证集和测试集结果。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14 拓展任务与加分要求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792224"/>
            <a:ext cx="10680192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1028700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76BA0"/>
                </a:solidFill>
                <a:latin typeface="Noto Sans CJK SC"/>
              </a:defRPr>
            </a:pPr>
            <a:r>
              <a:t>完成MNIST规定任务并提交实验报告，即达标及格。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2944368"/>
            <a:ext cx="5212080" cy="2212848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45536"/>
            <a:ext cx="4882896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76BA0"/>
                </a:solidFill>
                <a:latin typeface="Noto Sans CJK SC"/>
              </a:defRPr>
            </a:pPr>
            <a:r>
              <a:t>加分任务一｜CIFAR-10微调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22191"/>
            <a:ext cx="4882896" cy="1170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43547"/>
                </a:solidFill>
                <a:latin typeface="Noto Sans CJK SC"/>
              </a:defRPr>
            </a:pPr>
            <a:r>
              <a:t>把ByteFormer微调流程迁移到CIFAR-10。</a:t>
            </a:r>
          </a:p>
          <a:p>
            <a:pPr>
              <a:spcAft>
                <a:spcPts val="600"/>
              </a:spcAft>
              <a:defRPr sz="1800" b="0">
                <a:solidFill>
                  <a:srgbClr val="243547"/>
                </a:solidFill>
                <a:latin typeface="Noto Sans CJK SC"/>
              </a:defRPr>
            </a:pPr>
            <a:r>
              <a:t>自行适配数据读取与分类任务，</a:t>
            </a:r>
          </a:p>
          <a:p>
            <a:pPr>
              <a:spcAft>
                <a:spcPts val="600"/>
              </a:spcAft>
              <a:defRPr sz="1800" b="0">
                <a:solidFill>
                  <a:srgbClr val="243547"/>
                </a:solidFill>
                <a:latin typeface="Noto Sans CJK SC"/>
              </a:defRPr>
            </a:pPr>
            <a:r>
              <a:t>完成训练、验证和测试。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2944368"/>
            <a:ext cx="5212080" cy="2212848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145536"/>
            <a:ext cx="4882896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76BA0"/>
                </a:solidFill>
                <a:latin typeface="Noto Sans CJK SC"/>
              </a:defRPr>
            </a:pPr>
            <a:r>
              <a:t>进阶加分任务二｜Stanford40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822191"/>
            <a:ext cx="4882896" cy="1170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43547"/>
                </a:solidFill>
                <a:latin typeface="Noto Sans CJK SC"/>
              </a:defRPr>
            </a:pPr>
            <a:r>
              <a:t>完成斯坦福40动作识别数据集的微调分类。</a:t>
            </a:r>
          </a:p>
          <a:p>
            <a:pPr>
              <a:spcAft>
                <a:spcPts val="600"/>
              </a:spcAft>
              <a:defRPr sz="1800" b="0">
                <a:solidFill>
                  <a:srgbClr val="243547"/>
                </a:solidFill>
                <a:latin typeface="Noto Sans CJK SC"/>
              </a:defRPr>
            </a:pPr>
            <a:r>
              <a:t>自行准备数据、调整分类头并设置参数，</a:t>
            </a:r>
          </a:p>
          <a:p>
            <a:pPr>
              <a:spcAft>
                <a:spcPts val="600"/>
              </a:spcAft>
              <a:defRPr sz="1800" b="0">
                <a:solidFill>
                  <a:srgbClr val="243547"/>
                </a:solidFill>
                <a:latin typeface="Noto Sans CJK SC"/>
              </a:defRPr>
            </a:pPr>
            <a:r>
              <a:t>分析预测结果与典型错例。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477256"/>
            <a:ext cx="10378440" cy="7680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完成拓展任务可获得加分，进阶任务的加分高于基础拓展任务。</a:t>
            </a:r>
          </a:p>
          <a:p>
            <a:pPr>
              <a:spcAft>
                <a:spcPts val="600"/>
              </a:spcAft>
              <a:defRPr sz="2000" b="0">
                <a:solidFill>
                  <a:srgbClr val="243547"/>
                </a:solidFill>
                <a:latin typeface="Noto Sans CJK SC"/>
              </a:defRPr>
            </a:pPr>
            <a:r>
              <a:t>提交代码、数据划分、实验结果及分析，说明数据处理和模型调整方法。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ust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60" y="182880"/>
            <a:ext cx="1406278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0" y="219456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3"/>
                </a:solidFill>
                <a:latin typeface="Noto Sans CJK SC"/>
              </a:defRPr>
            </a:pPr>
            <a:r>
              <a:t>ByteFormer · MNIST 实验课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3547"/>
                </a:solidFill>
                <a:latin typeface="Noto Sans CJK SC"/>
              </a:defRPr>
            </a:pPr>
            <a:r>
              <a:t>15 配套材料与参考文献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91088" cy="21031"/>
          </a:xfrm>
          <a:prstGeom prst="rect">
            <a:avLst/>
          </a:prstGeom>
          <a:solidFill>
            <a:srgbClr val="BAC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517904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47483"/>
                </a:solidFill>
                <a:latin typeface="Noto Sans CJK SC"/>
              </a:defRPr>
            </a:pPr>
            <a:r>
              <a:t>实验步骤、运行命令和常见问题见README与课程Notebook。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6373368"/>
            <a:ext cx="292608" cy="292608"/>
          </a:xfrm>
          <a:prstGeom prst="rect">
            <a:avLst/>
          </a:prstGeom>
          <a:solidFill>
            <a:srgbClr val="B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6373368"/>
            <a:ext cx="292608" cy="292608"/>
          </a:xfrm>
          <a:prstGeom prst="rect">
            <a:avLst/>
          </a:prstGeom>
          <a:solidFill>
            <a:srgbClr val="C5C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647483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057400"/>
            <a:ext cx="10561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3"/>
              </a:rPr>
              <a:t>课程仓库：代码、Notebook、数据、PPT、报告模板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96896"/>
            <a:ext cx="10561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4"/>
              </a:rPr>
              <a:t>Kaggle Notebook 官方文档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36391"/>
            <a:ext cx="10561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5"/>
              </a:rPr>
              <a:t>AutoDL 官方快速开始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675887"/>
            <a:ext cx="10561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6"/>
              </a:rPr>
              <a:t>ByteFormer 原论文：Bytes Are All You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215383"/>
            <a:ext cx="10561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7"/>
              </a:rPr>
              <a:t>Apple CoreNet：ByteFormer代码与预训练权重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754879"/>
            <a:ext cx="105613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76BA0"/>
                </a:solidFill>
                <a:latin typeface="Noto Sans CJK SC"/>
              </a:defRPr>
            </a:pPr>
            <a:r>
              <a:rPr u="sng">
                <a:hlinkClick r:id="rId8"/>
              </a:rPr>
              <a:t>MNIST：CVDF镜像与原作者说明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ByteFormer 微调 MNIST：零基础实验课</dc:title>
  <dc:subject>ByteFormer微调MNIST图像分类实验</dc:subject>
  <dc:creator>Franklin-L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