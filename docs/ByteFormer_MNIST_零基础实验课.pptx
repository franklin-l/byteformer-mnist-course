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zhuanlan.zhihu.com/p/18209757723" TargetMode="External"/><Relationship Id="rId4" Type="http://schemas.openxmlformats.org/officeDocument/2006/relationships/hyperlink" Target="https://blog.csdn.net/yyyyyybw/article/details/148336854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www.autodl.com/docs/quick_start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autodl.com/docs/quick_start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doi.org/10.1016/j.patcog.2026.114151" TargetMode="External"/><Relationship Id="rId4" Type="http://schemas.openxmlformats.org/officeDocument/2006/relationships/hyperlink" Target="https://arxiv.org/abs/2608.15695" TargetMode="External"/><Relationship Id="rId5" Type="http://schemas.openxmlformats.org/officeDocument/2006/relationships/hyperlink" Target="https://arxiv.org/abs/2309.13890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Franklin-L/byteformer-mnist-course" TargetMode="External"/><Relationship Id="rId4" Type="http://schemas.openxmlformats.org/officeDocument/2006/relationships/hyperlink" Target="https://arxiv.org/abs/2306.00238" TargetMode="External"/><Relationship Id="rId5" Type="http://schemas.openxmlformats.org/officeDocument/2006/relationships/hyperlink" Target="https://arxiv.org/abs/2305.07185" TargetMode="External"/><Relationship Id="rId6" Type="http://schemas.openxmlformats.org/officeDocument/2006/relationships/hyperlink" Target="https://arxiv.org/abs/2401.13660" TargetMode="External"/><Relationship Id="rId7" Type="http://schemas.openxmlformats.org/officeDocument/2006/relationships/hyperlink" Target="https://arxiv.org/abs/2402.19155" TargetMode="External"/><Relationship Id="rId8" Type="http://schemas.openxmlformats.org/officeDocument/2006/relationships/hyperlink" Target="https://arxiv.org/abs/2502.14553" TargetMode="External"/><Relationship Id="rId9" Type="http://schemas.openxmlformats.org/officeDocument/2006/relationships/hyperlink" Target="https://www.kaggle.com/docs/notebooks" TargetMode="External"/><Relationship Id="rId10" Type="http://schemas.openxmlformats.org/officeDocument/2006/relationships/hyperlink" Target="https://www.autodl.com/docs/quick_start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953512"/>
            <a:ext cx="914400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176BA0"/>
                </a:solidFill>
                <a:latin typeface="Noto Sans CJK SC"/>
              </a:defRPr>
            </a:pPr>
            <a:r>
              <a:t>字节域语义内容理解实验说明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7752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助教：李方成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教师：吴科君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lifangcheng2002@163.com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kjwu@hust.edu.cn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多媒体通信与码流损坏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图像和视频经过压缩编码后，以二进制码流的形式传输或存储。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图像 / 视频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信源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压缩编码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JPEG / H.264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信道或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存储介质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304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4344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88352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解码与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视觉分析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46336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0344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分类 / 检测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内容理解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054096"/>
            <a:ext cx="493776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Gilbert–Elliott 二状态模型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3730752"/>
            <a:ext cx="1426464" cy="786384"/>
          </a:xfrm>
          <a:prstGeom prst="roundRect">
            <a:avLst/>
          </a:prstGeom>
          <a:solidFill>
            <a:srgbClr val="DD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877056"/>
            <a:ext cx="124358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31734F"/>
                </a:solidFill>
                <a:latin typeface="Noto Sans CJK SC"/>
              </a:defRPr>
            </a:pPr>
            <a:r>
              <a:t>G｜良好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21608" y="3730752"/>
            <a:ext cx="1426464" cy="786384"/>
          </a:xfrm>
          <a:prstGeom prst="roundRect">
            <a:avLst/>
          </a:prstGeom>
          <a:solidFill>
            <a:srgbClr val="F5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3048" y="3877056"/>
            <a:ext cx="1243584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BA3F3F"/>
                </a:solidFill>
                <a:latin typeface="Noto Sans CJK SC"/>
              </a:defRPr>
            </a:pPr>
            <a:r>
              <a:t>B｜不良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14016" y="3657600"/>
            <a:ext cx="126187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p：进入不良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14016" y="4288536"/>
            <a:ext cx="126187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r：恢复良好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3913632"/>
            <a:ext cx="15727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BA3F3F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4197096"/>
            <a:ext cx="15727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31734F"/>
                </a:solidFill>
                <a:latin typeface="Noto Sans CJK SC"/>
              </a:defRPr>
            </a:pPr>
            <a:r>
              <a:t>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" y="4846320"/>
            <a:ext cx="457200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G状态错误率低；B状态错误率高。</a:t>
            </a:r>
          </a:p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r较小时，错误容易连续出现，形成突发损坏。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063240"/>
            <a:ext cx="50749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常见的码流损坏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62472" y="3694176"/>
            <a:ext cx="2386584" cy="1069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3831336"/>
            <a:ext cx="2039112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Bit flip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08776" y="4224528"/>
            <a:ext cx="2093976" cy="3383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0 ↔ 1，长度不变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05672" y="3694176"/>
            <a:ext cx="2386584" cy="1069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79408" y="3831336"/>
            <a:ext cx="2039112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 loss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1976" y="4224528"/>
            <a:ext cx="2093976" cy="3383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字节丢失，位置移动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5038344"/>
            <a:ext cx="4946904" cy="6583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课程使用离散时间表达，p、r表示状态转移概率；</a:t>
            </a:r>
          </a:p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连续时间模型中相应参数写作转移率。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图像与视频码流结构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709928"/>
            <a:ext cx="50749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JPEG 图像码流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276856"/>
            <a:ext cx="603504" cy="758952"/>
          </a:xfrm>
          <a:prstGeom prst="roundRect">
            <a:avLst/>
          </a:prstGeom>
          <a:solidFill>
            <a:srgbClr val="D9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86584"/>
            <a:ext cx="54864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SOI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60904"/>
            <a:ext cx="54864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开始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26464" y="2276856"/>
            <a:ext cx="914400" cy="758952"/>
          </a:xfrm>
          <a:prstGeom prst="roundRect">
            <a:avLst/>
          </a:prstGeom>
          <a:solidFill>
            <a:srgbClr val="F4E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53896" y="2386584"/>
            <a:ext cx="859536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DQT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3896" y="2660904"/>
            <a:ext cx="859536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量化表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14016" y="2276856"/>
            <a:ext cx="731520" cy="758952"/>
          </a:xfrm>
          <a:prstGeom prst="roundRect">
            <a:avLst/>
          </a:prstGeom>
          <a:solidFill>
            <a:srgbClr val="D9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2386584"/>
            <a:ext cx="676656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SOF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1448" y="2660904"/>
            <a:ext cx="676656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尺寸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18688" y="2276856"/>
            <a:ext cx="731520" cy="758952"/>
          </a:xfrm>
          <a:prstGeom prst="roundRect">
            <a:avLst/>
          </a:prstGeom>
          <a:solidFill>
            <a:srgbClr val="F4E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2386584"/>
            <a:ext cx="676656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DHT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2660904"/>
            <a:ext cx="676656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码表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2276856"/>
            <a:ext cx="731520" cy="758952"/>
          </a:xfrm>
          <a:prstGeom prst="roundRect">
            <a:avLst/>
          </a:prstGeom>
          <a:solidFill>
            <a:srgbClr val="D9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0792" y="2386584"/>
            <a:ext cx="676656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SOS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0792" y="2660904"/>
            <a:ext cx="676656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扫描头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28032" y="2276856"/>
            <a:ext cx="1143000" cy="758952"/>
          </a:xfrm>
          <a:prstGeom prst="roundRect">
            <a:avLst/>
          </a:prstGeom>
          <a:solidFill>
            <a:srgbClr val="F4E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55464" y="2386584"/>
            <a:ext cx="1088136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Scan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5464" y="2660904"/>
            <a:ext cx="1088136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图像数据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44184" y="2276856"/>
            <a:ext cx="603504" cy="758952"/>
          </a:xfrm>
          <a:prstGeom prst="roundRect">
            <a:avLst/>
          </a:prstGeom>
          <a:solidFill>
            <a:srgbClr val="D9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2386584"/>
            <a:ext cx="54864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243547"/>
                </a:solidFill>
                <a:latin typeface="Noto Sans CJK SC"/>
              </a:defRPr>
            </a:pPr>
            <a:r>
              <a:t>EOI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2660904"/>
            <a:ext cx="54864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结束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310128"/>
            <a:ext cx="4983480" cy="1335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文件标记、尺寸、量化表或Huffman表受损，可能直接导致解码失败；扫描数据受损会出现错块、花屏和错误传播。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1709928"/>
            <a:ext cx="50749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H.264 视频码流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9632" y="2276856"/>
            <a:ext cx="1143000" cy="758952"/>
          </a:xfrm>
          <a:prstGeom prst="roundRect">
            <a:avLst/>
          </a:prstGeom>
          <a:solidFill>
            <a:srgbClr val="E3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2386584"/>
            <a:ext cx="1069848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243547"/>
                </a:solidFill>
                <a:latin typeface="Noto Sans CJK SC"/>
              </a:defRPr>
            </a:pPr>
            <a:r>
              <a:t>Start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660904"/>
            <a:ext cx="106984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定位NAL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79" y="2276856"/>
            <a:ext cx="1143000" cy="758952"/>
          </a:xfrm>
          <a:prstGeom prst="roundRect">
            <a:avLst/>
          </a:prstGeom>
          <a:solidFill>
            <a:srgbClr val="E3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4655" y="2386584"/>
            <a:ext cx="1069848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243547"/>
                </a:solidFill>
                <a:latin typeface="Noto Sans CJK SC"/>
              </a:defRPr>
            </a:pPr>
            <a:r>
              <a:t>SPS / PPS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34655" y="2660904"/>
            <a:ext cx="106984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解码参数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96528" y="2276856"/>
            <a:ext cx="1143000" cy="758952"/>
          </a:xfrm>
          <a:prstGeom prst="roundRect">
            <a:avLst/>
          </a:prstGeom>
          <a:solidFill>
            <a:srgbClr val="E8E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2386584"/>
            <a:ext cx="1069848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243547"/>
                </a:solidFill>
                <a:latin typeface="Noto Sans CJK SC"/>
              </a:defRPr>
            </a:pPr>
            <a:r>
              <a:t>IDR /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3104" y="2660904"/>
            <a:ext cx="106984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关键帧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94976" y="2276856"/>
            <a:ext cx="1143000" cy="758952"/>
          </a:xfrm>
          <a:prstGeom prst="roundRect">
            <a:avLst/>
          </a:prstGeom>
          <a:solidFill>
            <a:srgbClr val="E8E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31551" y="2386584"/>
            <a:ext cx="1069848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243547"/>
                </a:solidFill>
                <a:latin typeface="Noto Sans CJK SC"/>
              </a:defRPr>
            </a:pPr>
            <a:r>
              <a:t>P / 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31551" y="2660904"/>
            <a:ext cx="106984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预测帧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27064" y="3310128"/>
            <a:ext cx="4965192" cy="1335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SPS/PPS或关键帧受损会影响后续多帧；P、B帧依赖参考帧，错误可沿时间方向继续传播。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8096" y="5047488"/>
            <a:ext cx="10479024" cy="658368"/>
          </a:xfrm>
          <a:prstGeom prst="roundRect">
            <a:avLst/>
          </a:prstGeom>
          <a:solidFill>
            <a:srgbClr val="F5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" y="5230368"/>
            <a:ext cx="10113264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BA3F3F"/>
                </a:solidFill>
                <a:latin typeface="Noto Sans CJK SC"/>
              </a:defRPr>
            </a:pPr>
            <a:r>
              <a:t>码流结构受损 → 无法正确解码 → 像素域模型得不到可靠输入 → 直接从字节中理解内容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代表性字节模型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字节模型直接读取0—255字节值，重点解决超长序列和多尺度结构建模。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MEGABYTE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全局模型处理字节块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局部模型预测块内字节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论文公开；社区实现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07791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5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5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卷积缩短序列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窗口Transformer分类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官方代码与预训练权重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21224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MambaByte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选择性状态空间模型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近似线性处理长序列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官方代码与权重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34656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bGPT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Patch-level + Byte-level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多模态字节生成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62672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官方代码与多模态权重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48672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mBLM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48672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76104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多层级Byte Patch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Transformer / Mamba可选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6104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官方代码与Python包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" y="5349240"/>
            <a:ext cx="10689336" cy="576072"/>
          </a:xfrm>
          <a:prstGeom prst="roundRect">
            <a:avLst/>
          </a:prstGeom>
          <a:solidFill>
            <a:srgbClr val="DD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5504688"/>
            <a:ext cx="1036929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课程选择ByteFormer：直接支持文件分类，有公开代码和预训练权重，适合完成MNIST微调。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ByteFormer框架与课程任务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pic>
        <p:nvPicPr>
          <p:cNvPr id="7" name="Picture 6" descr="byteformer_model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012" y="1755647"/>
            <a:ext cx="3566160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715000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MNIST图像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JPEG编码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4576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14032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2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0—255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13064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预训练主干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12096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分类结果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57816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9864" y="3328416"/>
            <a:ext cx="5166360" cy="17190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使用公开的ByteFormer Tiny预训练权重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将分类头改为10个类别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在训练集更新参数，用验证集选择模型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最后在独立测试集上报告结果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596128"/>
            <a:ext cx="10643616" cy="530352"/>
          </a:xfrm>
          <a:prstGeom prst="roundRect">
            <a:avLst/>
          </a:prstGeom>
          <a:solidFill>
            <a:srgbClr val="DD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733288"/>
            <a:ext cx="1027785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基础任务：完成码流图像分类、参数对比和结果分析。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课程数据集与三类划分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课程仓库已经提供固定划分，所有同学使用相同样本。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pic>
        <p:nvPicPr>
          <p:cNvPr id="8" name="Picture 7" descr="mnist_dig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825496"/>
            <a:ext cx="4572000" cy="1828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504688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训练集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05272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59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每类500张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包含原图与轻微旋转、平移视图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59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52943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验证集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3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每类100张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用于选择最佳模型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00032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0615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测试集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0615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18904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每类100张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训练结束后独立评估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5266944"/>
            <a:ext cx="5596128" cy="5577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数据文件：data/course_1of10/　测试集不参与训练和模型选择。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实验环境与在线平台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平台界面、免费额度和租用价格可能调整，以平台当前页面为准。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4663440"/>
                <a:gridCol w="388620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运行平台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适用情况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入口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推荐；导入课程Notebook后运行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Notebook + Internet + 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AutoDL租用GPU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Kaggle额度不足时使用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已安装Python 3.9—3.12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pip install -r requirements-local.txt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95528" y="4956048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知乎｜Kaggle GPU资源使用教程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4956048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CSDN｜Kaggle平台使用指导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5486400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Kaggle官方Notebook文档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5486400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AutoDL官方快速开始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课程Notebook中已经写好相同命令。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48256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76272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105656"/>
            <a:ext cx="106070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看到[READY]即准备完成；课程数据集随仓库提供，ByteFormer预训练权重自动下载并校验。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855464"/>
            <a:ext cx="10607040" cy="1042415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train_course_subset.py：训练　evaluate_course_corruption.py：测试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predict.py：单图预测　data/course_1of10/：固定数据　outputs/：实验结果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模型训练与参数设置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37943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29384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训练 / 验证 / 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3512" y="1929384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5,000 / 1,000 / 1,000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79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60320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560320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根据验证结果自行设置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99815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191256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191256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30752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822191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3822191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361688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53127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输入增强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4453127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轻微旋转与水平平移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9048" y="1874519"/>
            <a:ext cx="5321808" cy="199339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002536"/>
            <a:ext cx="4992624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!python train_course_subset.py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--method clean --epochs {EPOCHS}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 --clean-augmentations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--output outputs/course_clean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4197096"/>
            <a:ext cx="4965192" cy="10789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训练过程中观察验证集准确率；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结果保存在outputs/course_clean/。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轮数与batch size没有固定答案，请在报告中写明自己的设置。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训练结果分析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10698480" cy="1143000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10369296" cy="8869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900" b="0">
                <a:solidFill>
                  <a:srgbClr val="FFFFFF"/>
                </a:solidFill>
                <a:latin typeface="DejaVu Sans Mono"/>
              </a:defRPr>
            </a:pPr>
            <a:r>
              <a:t>from IPython.display import display, Image</a:t>
            </a:r>
          </a:p>
          <a:p>
            <a:pPr>
              <a:spcAft>
                <a:spcPts val="300"/>
              </a:spcAft>
              <a:defRPr sz="1900" b="0">
                <a:solidFill>
                  <a:srgbClr val="FFFFFF"/>
                </a:solidFill>
                <a:latin typeface="DejaVu Sans Mono"/>
              </a:defRPr>
            </a:pPr>
            <a:r>
              <a:t>display(Image("outputs/course_clean/curves.png"))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训练损失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是否总体下降？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是否出现明显波动？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验证结果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准确率怎样变化？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最佳结果出现在哪一轮？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0496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测试结果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6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加载验证集选出的模型，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在独立测试集上评估。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5513832"/>
            <a:ext cx="10424160" cy="5577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history.csv保存每轮结果；metrics.json保存最佳轮次、参数和运行时间。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测试、单图预测与错例检查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92224"/>
            <a:ext cx="10744200" cy="148132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10415016" cy="12252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!python evaluate_course_corruption.py \</a:t>
            </a:r>
          </a:p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  --checkpoint outputs/course_clean/best.pt --output outputs/course_clean_eval</a:t>
            </a:r>
          </a:p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outputs/course_clean/best.pt --index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75304"/>
            <a:ext cx="5687568" cy="1764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Clean：基础任务的独立测试结果。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Medium-Flip / Loss / Mixed：加分项使用。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将--index改成其他测试索引，可查看预测概率。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结合预测图和错误索引分析典型错例。</a:t>
            </a:r>
          </a:p>
        </p:txBody>
      </p:sp>
      <p:pic>
        <p:nvPicPr>
          <p:cNvPr id="10" name="Picture 9" descr="example_dig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708" y="3429000"/>
            <a:ext cx="1993392" cy="1993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67728" y="5513832"/>
            <a:ext cx="3995928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参数对比实验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1828800"/>
            <a:ext cx="10707624" cy="19476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956816"/>
            <a:ext cx="10378440" cy="16916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!python train_course_subset.py --method clean \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--epochs {COMPARISON_EPOCHS} --batch-size {COMPARISON_BATCH_SIZE} \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--clean-augmentations --output outputs/comparison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977639"/>
            <a:ext cx="5257800" cy="1490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轮数和batch size均可自行设置。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建议一次只改变一个参数，其他条件保持一致。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保留第一次结果，另存outputs/comparison。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3941063"/>
            <a:ext cx="4736592" cy="157276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0256" y="4087368"/>
            <a:ext cx="4334256" cy="12618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比较内容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验证集准确率与训练时间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损失曲线和收敛速度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参数变化带来的收益与代价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60720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报告中列出两次设置及结果，并说明比较结论。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AutoDL运行与常见问题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73936"/>
            <a:ext cx="5605272" cy="3246120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01952"/>
            <a:ext cx="5276088" cy="299008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train_course_subset.py --method clean \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  --epochs "$EPOCHS" --batch-size "$BATCH_SIZE" \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  --clean-augmentations --output outputs/course_clean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1828800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1929384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没有使用GPU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5048" y="1929384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检查Kaggle加速器或AutoDL实例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2660904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2761488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缺少Python包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761488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重新安装requirements.txt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493008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3593592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显存不足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593592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减小batch size并记录实际值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4325112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4425696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输出目录已有文件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25696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改用新的output目录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303520"/>
            <a:ext cx="5532120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运行前在Terminal中设置EPOCHS和BATCH_SIZE；</a:t>
            </a:r>
          </a:p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实验结束后下载outputs并在控制台关机。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1696" y="5486400"/>
            <a:ext cx="43891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AutoDL官方快速开始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实验结果与报告提交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10512"/>
            <a:ext cx="5513832" cy="33924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① 保存训练曲线和测试结果。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② 完成一次参数对比。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③ 展示单图预测或典型错例。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④ 填写实验环境、命令、参数与结果分析。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⑤ 打包代码、结果图和实验报告。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数据集和Python环境不需要重复提交。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基础任务检查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5976" y="249631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完成训练、验证和测试流程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962656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记录实际轮数与batch size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3429000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区分验证集结果和测试集结果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5976" y="3895344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说明曲线变化与参数对比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4361688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给出预测结果与错例分析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482803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提交个人实验报告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报告分别列出训练集、验证集和测试集的用途与结果。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加分项：损坏码流分类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课程提供与干净测试集对应的损坏测试数据，共包含以下两种基本损坏。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947672"/>
            <a:ext cx="3401568" cy="1371600"/>
          </a:xfrm>
          <a:prstGeom prst="roundRect">
            <a:avLst/>
          </a:prstGeom>
          <a:solidFill>
            <a:srgbClr val="F6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BA3F3F"/>
                </a:solidFill>
                <a:latin typeface="Noto Sans CJK SC"/>
              </a:defRPr>
            </a:pPr>
            <a:r>
              <a:t>Bit flip｜比特翻转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15184"/>
            <a:ext cx="302666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翻转选中字节的1位（长度不变）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10100110 → 10100010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947672"/>
            <a:ext cx="3401568" cy="1371600"/>
          </a:xfrm>
          <a:prstGeom prst="roundRect">
            <a:avLst/>
          </a:prstGeom>
          <a:solidFill>
            <a:srgbClr val="F4E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A46A25"/>
                </a:solidFill>
                <a:latin typeface="Noto Sans CJK SC"/>
              </a:defRPr>
            </a:pPr>
            <a:r>
              <a:t>Byte loss｜字节丢失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615184"/>
            <a:ext cx="302666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删除字节，后续字节前移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FF D8 A1 3C → FF D8 3C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947672"/>
            <a:ext cx="3401568" cy="13716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Mixed｜混合损坏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596896"/>
            <a:ext cx="3026664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每个样本随机选择翻转或丢失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检验模型对未知损坏的适应能力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3593592"/>
            <a:ext cx="251460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可以尝试的方向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① 结果分析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比较Clean、Flip、Loss、Mixed，观察哪类损坏影响更大。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696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② 损坏增强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训练时随机加入bit flip和byte loss样本。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③ 一致性约束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让同一图像的干净码流与损坏码流输出接近。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404104"/>
            <a:ext cx="20299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647483"/>
                </a:solidFill>
                <a:latin typeface="Noto Sans CJK SC"/>
              </a:defRPr>
            </a:pPr>
            <a:r>
              <a:t>参考资料：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385816"/>
            <a:ext cx="2331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CBSU-ALLM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5385816"/>
            <a:ext cx="20574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BRACE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5385816"/>
            <a:ext cx="20574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BSCV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5824728"/>
            <a:ext cx="104698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提交改进方法、训练设置以及四类测试结果；可自行组合其他增强或鲁棒训练方法。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15 配套材料与参考文献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实验步骤、命令和数据说明见课程仓库与Notebook。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470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课程仓库：代码、Notebook、数据、PPT和报告模板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042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ByteFormer：Bytes Are All You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614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MEGABYTE：Predicting Million-byte Sequences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186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MambaByte：Token-free Selective State Space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bGPT：Byte Models are Digital World Simulators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mBLM：Hierarchical Transformers for Byte Modeling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5902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9"/>
              </a:rPr>
              <a:t>Kaggle Notebook官方文档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0474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10"/>
              </a:rPr>
              <a:t>AutoDL官方快速开始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字节域语义内容理解实验说明</dc:title>
  <dc:subject>字节模型与ByteFormer码流图像分类实验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